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8" r:id="rId5"/>
    <p:sldId id="259" r:id="rId6"/>
    <p:sldId id="260" r:id="rId7"/>
    <p:sldId id="262" r:id="rId8"/>
    <p:sldId id="263" r:id="rId9"/>
    <p:sldId id="264" r:id="rId10"/>
    <p:sldId id="265" r:id="rId11"/>
    <p:sldId id="319" r:id="rId12"/>
    <p:sldId id="320" r:id="rId13"/>
    <p:sldId id="271" r:id="rId14"/>
    <p:sldId id="318" r:id="rId15"/>
    <p:sldId id="291" r:id="rId16"/>
    <p:sldId id="292" r:id="rId17"/>
    <p:sldId id="307" r:id="rId18"/>
    <p:sldId id="312" r:id="rId19"/>
    <p:sldId id="272" r:id="rId20"/>
    <p:sldId id="273" r:id="rId21"/>
    <p:sldId id="279" r:id="rId22"/>
    <p:sldId id="280" r:id="rId23"/>
    <p:sldId id="282" r:id="rId24"/>
    <p:sldId id="284" r:id="rId25"/>
    <p:sldId id="321" r:id="rId26"/>
  </p:sldIdLst>
  <p:sldSz cx="9144000" cy="6858000" type="screen4x3"/>
  <p:notesSz cx="6794500" cy="9906000"/>
  <p:custDataLst>
    <p:tags r:id="rId2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5">
          <p15:clr>
            <a:srgbClr val="A4A3A4"/>
          </p15:clr>
        </p15:guide>
        <p15:guide id="2" orient="horz" pos="574">
          <p15:clr>
            <a:srgbClr val="A4A3A4"/>
          </p15:clr>
        </p15:guide>
        <p15:guide id="3" orient="horz" pos="2344">
          <p15:clr>
            <a:srgbClr val="A4A3A4"/>
          </p15:clr>
        </p15:guide>
        <p15:guide id="4" orient="horz" pos="2499">
          <p15:clr>
            <a:srgbClr val="A4A3A4"/>
          </p15:clr>
        </p15:guide>
        <p15:guide id="5" orient="horz" pos="912">
          <p15:clr>
            <a:srgbClr val="A4A3A4"/>
          </p15:clr>
        </p15:guide>
        <p15:guide id="6" orient="horz" pos="3930">
          <p15:clr>
            <a:srgbClr val="A4A3A4"/>
          </p15:clr>
        </p15:guide>
        <p15:guide id="7" pos="5558">
          <p15:clr>
            <a:srgbClr val="A4A3A4"/>
          </p15:clr>
        </p15:guide>
        <p15:guide id="8" pos="215">
          <p15:clr>
            <a:srgbClr val="A4A3A4"/>
          </p15:clr>
        </p15:guide>
        <p15:guide id="9" pos="3320">
          <p15:clr>
            <a:srgbClr val="A4A3A4"/>
          </p15:clr>
        </p15:guide>
        <p15:guide id="10" pos="34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88"/>
    <a:srgbClr val="B2B2B2"/>
    <a:srgbClr val="FF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85" autoAdjust="0"/>
    <p:restoredTop sz="94639" autoAdjust="0"/>
  </p:normalViewPr>
  <p:slideViewPr>
    <p:cSldViewPr snapToGrid="0" showGuides="1">
      <p:cViewPr varScale="1">
        <p:scale>
          <a:sx n="82" d="100"/>
          <a:sy n="82" d="100"/>
        </p:scale>
        <p:origin x="1675" y="72"/>
      </p:cViewPr>
      <p:guideLst>
        <p:guide orient="horz" pos="325"/>
        <p:guide orient="horz" pos="574"/>
        <p:guide orient="horz" pos="2344"/>
        <p:guide orient="horz" pos="2499"/>
        <p:guide orient="horz" pos="912"/>
        <p:guide orient="horz" pos="3930"/>
        <p:guide pos="5558"/>
        <p:guide pos="215"/>
        <p:guide pos="3320"/>
        <p:guide pos="3473"/>
      </p:guideLst>
    </p:cSldViewPr>
  </p:slideViewPr>
  <p:outlineViewPr>
    <p:cViewPr>
      <p:scale>
        <a:sx n="33" d="100"/>
        <a:sy n="33" d="100"/>
      </p:scale>
      <p:origin x="0" y="23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AF203-EBE4-4968-9FDA-6DC0F17C2802}" type="datetime1">
              <a:rPr lang="de-CH" smtClean="0"/>
              <a:t>09.01.2026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CA9FE-6F99-4964-ABEA-5046A3482C9F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3035862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CE8EC-285B-4945-9EBA-1D55D2C9253C}" type="datetime1">
              <a:rPr lang="de-CH" smtClean="0"/>
              <a:t>09.01.2026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50C61-672C-4A3F-B4FC-2A1DADECA05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504885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BF01955-FDAF-47C5-893D-2B28797B9D8E}" type="datetime1">
              <a:rPr lang="de-CH" smtClean="0"/>
              <a:t>09.01.2026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E150C61-672C-4A3F-B4FC-2A1DADECA052}" type="slidenum">
              <a:rPr lang="de-CH" smtClean="0"/>
              <a:pPr/>
              <a:t>17</a:t>
            </a:fld>
            <a:endParaRPr lang="de-C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E2A2004-82AA-4935-A900-4A2644903825}" type="datetime1">
              <a:rPr lang="de-CH" smtClean="0"/>
              <a:t>09.01.2026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E150C61-672C-4A3F-B4FC-2A1DADECA052}" type="slidenum">
              <a:rPr lang="de-CH" smtClean="0"/>
              <a:pPr/>
              <a:t>18</a:t>
            </a:fld>
            <a:endParaRPr lang="de-C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7" name="Rechteck 36"/>
          <p:cNvSpPr/>
          <p:nvPr userDrawn="1"/>
        </p:nvSpPr>
        <p:spPr>
          <a:xfrm>
            <a:off x="4074293" y="2893956"/>
            <a:ext cx="4746179" cy="3964044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CH" dirty="0"/>
              <a:t> </a:t>
            </a:r>
          </a:p>
        </p:txBody>
      </p:sp>
      <p:cxnSp>
        <p:nvCxnSpPr>
          <p:cNvPr id="39" name="Gerade Verbindung 38"/>
          <p:cNvCxnSpPr/>
          <p:nvPr userDrawn="1"/>
        </p:nvCxnSpPr>
        <p:spPr>
          <a:xfrm flipH="1">
            <a:off x="4290317" y="4451742"/>
            <a:ext cx="4234682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506" y="3186793"/>
            <a:ext cx="1178679" cy="285404"/>
          </a:xfrm>
          <a:prstGeom prst="rect">
            <a:avLst/>
          </a:prstGeom>
        </p:spPr>
      </p:pic>
      <p:sp>
        <p:nvSpPr>
          <p:cNvPr id="4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4283968" y="6309320"/>
            <a:ext cx="3168352" cy="360040"/>
          </a:xfrm>
        </p:spPr>
        <p:txBody>
          <a:bodyPr lIns="0" tIns="0" rIns="0" bIns="0"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>
          <a:xfrm>
            <a:off x="4284000" y="4582800"/>
            <a:ext cx="4248000" cy="338824"/>
          </a:xfrm>
        </p:spPr>
        <p:txBody>
          <a:bodyPr anchor="t" anchorCtr="0"/>
          <a:lstStyle>
            <a:lvl1pPr marL="0">
              <a:lnSpc>
                <a:spcPct val="80000"/>
              </a:lnSpc>
              <a:defRPr lang="de-DE" sz="3200" b="1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de-DE" dirty="0"/>
              <a:t>Schalung für</a:t>
            </a:r>
            <a:endParaRPr lang="en-US" dirty="0"/>
          </a:p>
        </p:txBody>
      </p:sp>
      <p:sp>
        <p:nvSpPr>
          <p:cNvPr id="16" name="Textfeld 15"/>
          <p:cNvSpPr txBox="1"/>
          <p:nvPr userDrawn="1"/>
        </p:nvSpPr>
        <p:spPr>
          <a:xfrm>
            <a:off x="4284001" y="4222800"/>
            <a:ext cx="42528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kern="1200" dirty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The </a:t>
            </a:r>
            <a:r>
              <a:rPr lang="de-DE" sz="1200" b="1" kern="1200" dirty="0" err="1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Formwork</a:t>
            </a:r>
            <a:r>
              <a:rPr lang="de-DE" sz="1200" b="1" kern="1200" dirty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1" kern="1200" dirty="0" err="1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Experts</a:t>
            </a:r>
            <a:r>
              <a:rPr lang="de-DE" sz="1200" b="1" kern="1200" dirty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.</a:t>
            </a:r>
            <a:endParaRPr lang="en-US" sz="1200" b="1" kern="1200" dirty="0">
              <a:solidFill>
                <a:srgbClr val="004588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5" name="Gerade Verbindung 14"/>
          <p:cNvCxnSpPr/>
          <p:nvPr userDrawn="1"/>
        </p:nvCxnSpPr>
        <p:spPr>
          <a:xfrm flipH="1">
            <a:off x="4290317" y="5480657"/>
            <a:ext cx="4226869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4283969" y="5517232"/>
            <a:ext cx="4248472" cy="3122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 dirty="0"/>
              <a:t>Kundentraining 2013</a:t>
            </a:r>
          </a:p>
        </p:txBody>
      </p:sp>
    </p:spTree>
    <p:extLst>
      <p:ext uri="{BB962C8B-B14F-4D97-AF65-F5344CB8AC3E}">
        <p14:creationId xmlns:p14="http://schemas.microsoft.com/office/powerpoint/2010/main" val="169091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" y="0"/>
            <a:ext cx="9144000" cy="6861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Rechteck 36"/>
          <p:cNvSpPr/>
          <p:nvPr userDrawn="1"/>
        </p:nvSpPr>
        <p:spPr>
          <a:xfrm>
            <a:off x="4074293" y="2893956"/>
            <a:ext cx="4746179" cy="3964044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CH" dirty="0"/>
              <a:t> </a:t>
            </a:r>
          </a:p>
        </p:txBody>
      </p:sp>
      <p:pic>
        <p:nvPicPr>
          <p:cNvPr id="45" name="Grafik 4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506" y="3186793"/>
            <a:ext cx="1178679" cy="285404"/>
          </a:xfrm>
          <a:prstGeom prst="rect">
            <a:avLst/>
          </a:prstGeom>
        </p:spPr>
      </p:pic>
      <p:cxnSp>
        <p:nvCxnSpPr>
          <p:cNvPr id="14" name="Gerade Verbindung 13"/>
          <p:cNvCxnSpPr/>
          <p:nvPr userDrawn="1"/>
        </p:nvCxnSpPr>
        <p:spPr>
          <a:xfrm flipH="1">
            <a:off x="4290317" y="4451742"/>
            <a:ext cx="4234682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 flipH="1">
            <a:off x="4290317" y="5480657"/>
            <a:ext cx="4226869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4283969" y="5517232"/>
            <a:ext cx="4248472" cy="3122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 dirty="0"/>
              <a:t>Kundentraining 2013</a:t>
            </a:r>
          </a:p>
        </p:txBody>
      </p:sp>
      <p:sp>
        <p:nvSpPr>
          <p:cNvPr id="1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4283968" y="6309320"/>
            <a:ext cx="3168352" cy="360040"/>
          </a:xfrm>
        </p:spPr>
        <p:txBody>
          <a:bodyPr lIns="0" tIns="0" rIns="0" bIns="0"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20" name="Titel 11"/>
          <p:cNvSpPr>
            <a:spLocks noGrp="1"/>
          </p:cNvSpPr>
          <p:nvPr>
            <p:ph type="title" hasCustomPrompt="1"/>
          </p:nvPr>
        </p:nvSpPr>
        <p:spPr>
          <a:xfrm>
            <a:off x="4284000" y="4582800"/>
            <a:ext cx="4248000" cy="792000"/>
          </a:xfrm>
        </p:spPr>
        <p:txBody>
          <a:bodyPr anchor="t" anchorCtr="0"/>
          <a:lstStyle>
            <a:lvl1pPr marL="0">
              <a:lnSpc>
                <a:spcPct val="80000"/>
              </a:lnSpc>
              <a:defRPr lang="de-DE" sz="3200" b="1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de-DE" dirty="0"/>
              <a:t>Brückenschalung </a:t>
            </a:r>
            <a:r>
              <a:rPr lang="de-DE" dirty="0" err="1"/>
              <a:t>ParaTop</a:t>
            </a:r>
            <a:endParaRPr lang="en-US" dirty="0"/>
          </a:p>
        </p:txBody>
      </p:sp>
      <p:sp>
        <p:nvSpPr>
          <p:cNvPr id="21" name="Textfeld 20"/>
          <p:cNvSpPr txBox="1"/>
          <p:nvPr userDrawn="1"/>
        </p:nvSpPr>
        <p:spPr>
          <a:xfrm>
            <a:off x="4284001" y="4222800"/>
            <a:ext cx="42528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The Formwork Experts.</a:t>
            </a:r>
            <a:endParaRPr lang="en-US" sz="1200" b="1" kern="1200" dirty="0">
              <a:solidFill>
                <a:srgbClr val="004588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beetemp\Präsentationen &amp; Vorträge\Schalwagen TU\IMGP6846.JPG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7" name="Rechteck 36"/>
          <p:cNvSpPr/>
          <p:nvPr userDrawn="1"/>
        </p:nvSpPr>
        <p:spPr>
          <a:xfrm>
            <a:off x="4074293" y="2893956"/>
            <a:ext cx="4746179" cy="3964044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CH" dirty="0"/>
              <a:t> </a:t>
            </a:r>
          </a:p>
        </p:txBody>
      </p:sp>
      <p:pic>
        <p:nvPicPr>
          <p:cNvPr id="45" name="Grafik 4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506" y="3186793"/>
            <a:ext cx="1178679" cy="285404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 flipH="1">
            <a:off x="4290317" y="4451742"/>
            <a:ext cx="4234682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 flipH="1">
            <a:off x="4290317" y="5480657"/>
            <a:ext cx="4226869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4283969" y="5517232"/>
            <a:ext cx="4248472" cy="3122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 dirty="0"/>
              <a:t>Kundentraining 2013</a:t>
            </a:r>
          </a:p>
          <a:p>
            <a:pPr lvl="0"/>
            <a:endParaRPr lang="de-DE" dirty="0"/>
          </a:p>
        </p:txBody>
      </p:sp>
      <p:sp>
        <p:nvSpPr>
          <p:cNvPr id="1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4283968" y="6309320"/>
            <a:ext cx="3168352" cy="360040"/>
          </a:xfrm>
        </p:spPr>
        <p:txBody>
          <a:bodyPr lIns="0" tIns="0" rIns="0" bIns="0"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20" name="Titel 11"/>
          <p:cNvSpPr>
            <a:spLocks noGrp="1"/>
          </p:cNvSpPr>
          <p:nvPr>
            <p:ph type="title" hasCustomPrompt="1"/>
          </p:nvPr>
        </p:nvSpPr>
        <p:spPr>
          <a:xfrm>
            <a:off x="4284000" y="4582800"/>
            <a:ext cx="4248000" cy="792000"/>
          </a:xfrm>
        </p:spPr>
        <p:txBody>
          <a:bodyPr anchor="t" anchorCtr="0"/>
          <a:lstStyle>
            <a:lvl1pPr marL="0">
              <a:lnSpc>
                <a:spcPct val="80000"/>
              </a:lnSpc>
              <a:defRPr lang="de-DE" sz="3200" b="1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de-DE" dirty="0" err="1"/>
              <a:t>Doka</a:t>
            </a:r>
            <a:r>
              <a:rPr lang="de-DE" dirty="0"/>
              <a:t>-Schalwagen TU</a:t>
            </a:r>
            <a:endParaRPr lang="en-US" dirty="0"/>
          </a:p>
        </p:txBody>
      </p:sp>
      <p:sp>
        <p:nvSpPr>
          <p:cNvPr id="21" name="Textfeld 20"/>
          <p:cNvSpPr txBox="1"/>
          <p:nvPr userDrawn="1"/>
        </p:nvSpPr>
        <p:spPr>
          <a:xfrm>
            <a:off x="4284001" y="4222800"/>
            <a:ext cx="42528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The Formwork Experts.</a:t>
            </a:r>
            <a:endParaRPr lang="en-US" sz="1200" b="1" kern="1200" dirty="0">
              <a:solidFill>
                <a:srgbClr val="004588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Rechteck 36"/>
          <p:cNvSpPr/>
          <p:nvPr userDrawn="1"/>
        </p:nvSpPr>
        <p:spPr>
          <a:xfrm>
            <a:off x="4074293" y="2893956"/>
            <a:ext cx="4746179" cy="3964044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CH" dirty="0"/>
              <a:t> </a:t>
            </a:r>
          </a:p>
        </p:txBody>
      </p:sp>
      <p:pic>
        <p:nvPicPr>
          <p:cNvPr id="45" name="Grafik 4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506" y="3186793"/>
            <a:ext cx="1178679" cy="285404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 flipH="1">
            <a:off x="4290317" y="4451742"/>
            <a:ext cx="4234682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 flipH="1">
            <a:off x="4290317" y="5480657"/>
            <a:ext cx="4226869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4283969" y="5517232"/>
            <a:ext cx="4248472" cy="3122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 dirty="0"/>
              <a:t>Kundentraining 2013</a:t>
            </a:r>
          </a:p>
          <a:p>
            <a:pPr lvl="0"/>
            <a:endParaRPr lang="de-DE" dirty="0"/>
          </a:p>
        </p:txBody>
      </p:sp>
      <p:sp>
        <p:nvSpPr>
          <p:cNvPr id="1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4283968" y="6309320"/>
            <a:ext cx="3168352" cy="360040"/>
          </a:xfrm>
        </p:spPr>
        <p:txBody>
          <a:bodyPr lIns="0" tIns="0" rIns="0" bIns="0"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20" name="Titel 11"/>
          <p:cNvSpPr>
            <a:spLocks noGrp="1"/>
          </p:cNvSpPr>
          <p:nvPr>
            <p:ph type="title" hasCustomPrompt="1"/>
          </p:nvPr>
        </p:nvSpPr>
        <p:spPr>
          <a:xfrm>
            <a:off x="4284000" y="4582800"/>
            <a:ext cx="4248000" cy="792000"/>
          </a:xfrm>
        </p:spPr>
        <p:txBody>
          <a:bodyPr anchor="t" anchorCtr="0"/>
          <a:lstStyle>
            <a:lvl1pPr marL="0">
              <a:lnSpc>
                <a:spcPct val="80000"/>
              </a:lnSpc>
              <a:defRPr lang="de-DE" sz="3200" b="1" kern="1200" baseline="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de-DE" dirty="0" err="1"/>
              <a:t>Gesimsschalung</a:t>
            </a:r>
            <a:r>
              <a:rPr lang="de-DE" dirty="0"/>
              <a:t> T</a:t>
            </a:r>
            <a:br>
              <a:rPr lang="de-DE" dirty="0"/>
            </a:br>
            <a:r>
              <a:rPr lang="de-DE" dirty="0"/>
              <a:t>Schalwagen T</a:t>
            </a:r>
            <a:endParaRPr lang="en-US" dirty="0"/>
          </a:p>
        </p:txBody>
      </p:sp>
      <p:sp>
        <p:nvSpPr>
          <p:cNvPr id="21" name="Textfeld 20"/>
          <p:cNvSpPr txBox="1"/>
          <p:nvPr userDrawn="1"/>
        </p:nvSpPr>
        <p:spPr>
          <a:xfrm>
            <a:off x="4284001" y="4222800"/>
            <a:ext cx="42528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The Formwork Experts.</a:t>
            </a:r>
            <a:endParaRPr lang="en-US" sz="1200" b="1" kern="1200" dirty="0">
              <a:solidFill>
                <a:srgbClr val="004588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912" y="303480"/>
            <a:ext cx="1178679" cy="285404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 flipH="1">
            <a:off x="4290317" y="4451742"/>
            <a:ext cx="4530155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/>
          <p:cNvCxnSpPr/>
          <p:nvPr userDrawn="1"/>
        </p:nvCxnSpPr>
        <p:spPr>
          <a:xfrm flipH="1">
            <a:off x="4290318" y="5480657"/>
            <a:ext cx="4530154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34"/>
          <p:cNvSpPr>
            <a:spLocks noGrp="1"/>
          </p:cNvSpPr>
          <p:nvPr>
            <p:ph type="body" sz="quarter" idx="11" hasCustomPrompt="1"/>
          </p:nvPr>
        </p:nvSpPr>
        <p:spPr>
          <a:xfrm>
            <a:off x="4283968" y="5517232"/>
            <a:ext cx="4536503" cy="3122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 b="0">
                <a:solidFill>
                  <a:srgbClr val="00458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de-CH" dirty="0"/>
          </a:p>
        </p:txBody>
      </p:sp>
      <p:sp>
        <p:nvSpPr>
          <p:cNvPr id="25" name="Fußzeilenplatzhalter 3"/>
          <p:cNvSpPr>
            <a:spLocks noGrp="1"/>
          </p:cNvSpPr>
          <p:nvPr>
            <p:ph type="ftr" sz="quarter" idx="14"/>
          </p:nvPr>
        </p:nvSpPr>
        <p:spPr>
          <a:xfrm>
            <a:off x="4283968" y="6309320"/>
            <a:ext cx="3456384" cy="360040"/>
          </a:xfrm>
        </p:spPr>
        <p:txBody>
          <a:bodyPr lIns="0" tIns="0" rIns="0" bIns="0"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16" name="Titel 15"/>
          <p:cNvSpPr>
            <a:spLocks noGrp="1"/>
          </p:cNvSpPr>
          <p:nvPr>
            <p:ph type="title" hasCustomPrompt="1"/>
          </p:nvPr>
        </p:nvSpPr>
        <p:spPr>
          <a:xfrm>
            <a:off x="4284000" y="4582800"/>
            <a:ext cx="4536000" cy="792000"/>
          </a:xfrm>
        </p:spPr>
        <p:txBody>
          <a:bodyPr anchor="t" anchorCtr="0"/>
          <a:lstStyle>
            <a:lvl1pPr>
              <a:lnSpc>
                <a:spcPct val="80000"/>
              </a:lnSpc>
              <a:defRPr lang="en-US" sz="3200" b="1" kern="1200" dirty="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de-DE" dirty="0"/>
              <a:t>Headline</a:t>
            </a:r>
            <a:endParaRPr lang="en-US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4284000" y="4222800"/>
            <a:ext cx="453771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rPr>
              <a:t>The Formwork Experts.</a:t>
            </a:r>
            <a:endParaRPr lang="en-US" sz="1200" b="1" kern="1200" dirty="0">
              <a:solidFill>
                <a:srgbClr val="004588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00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341312" y="908720"/>
            <a:ext cx="8482013" cy="288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>
                <a:solidFill>
                  <a:srgbClr val="004588"/>
                </a:solidFill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7" name="Datumsplatzhalter 10"/>
          <p:cNvSpPr>
            <a:spLocks noGrp="1"/>
          </p:cNvSpPr>
          <p:nvPr>
            <p:ph type="dt" sz="half" idx="2"/>
          </p:nvPr>
        </p:nvSpPr>
        <p:spPr>
          <a:xfrm>
            <a:off x="5513388" y="6584400"/>
            <a:ext cx="1329622" cy="21600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en-US" sz="800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7C5CF431-40E6-4123-966B-CF284754F2DC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4"/>
          </p:nvPr>
        </p:nvSpPr>
        <p:spPr>
          <a:xfrm>
            <a:off x="341313" y="1447800"/>
            <a:ext cx="8482012" cy="4791075"/>
          </a:xfrm>
          <a:prstGeom prst="rect">
            <a:avLst/>
          </a:prstGeom>
        </p:spPr>
        <p:txBody>
          <a:bodyPr lIns="0" tIns="0" rIns="0" bIns="0"/>
          <a:lstStyle>
            <a:lvl1pPr marL="179388" indent="-179388"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, 2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1312" y="514560"/>
            <a:ext cx="8482013" cy="250144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4"/>
          </p:nvPr>
        </p:nvSpPr>
        <p:spPr>
          <a:xfrm>
            <a:off x="341313" y="1447800"/>
            <a:ext cx="4921250" cy="4791076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5pPr>
            <a:lvl6pPr>
              <a:buNone/>
              <a:defRPr sz="1600"/>
            </a:lvl6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341312" y="908720"/>
            <a:ext cx="8482013" cy="288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>
                <a:solidFill>
                  <a:srgbClr val="004588"/>
                </a:solidFill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9" name="Datumsplatzhalter 10"/>
          <p:cNvSpPr>
            <a:spLocks noGrp="1"/>
          </p:cNvSpPr>
          <p:nvPr>
            <p:ph type="dt" sz="half" idx="2"/>
          </p:nvPr>
        </p:nvSpPr>
        <p:spPr>
          <a:xfrm>
            <a:off x="5513388" y="6584400"/>
            <a:ext cx="1329622" cy="21600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en-US" sz="800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8A00680E-14B9-4B39-8B27-D2DCE78F622F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9"/>
          </p:nvPr>
        </p:nvSpPr>
        <p:spPr>
          <a:xfrm>
            <a:off x="5508000" y="1447200"/>
            <a:ext cx="3315600" cy="2271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  <a:lvl2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4" name="Content Placeholder 12"/>
          <p:cNvSpPr>
            <a:spLocks noGrp="1"/>
          </p:cNvSpPr>
          <p:nvPr>
            <p:ph sz="quarter" idx="20"/>
          </p:nvPr>
        </p:nvSpPr>
        <p:spPr>
          <a:xfrm>
            <a:off x="5508000" y="3967200"/>
            <a:ext cx="3315600" cy="2271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  <a:lvl2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27584" y="6584400"/>
            <a:ext cx="4442916" cy="216024"/>
          </a:xfrm>
        </p:spPr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Media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4"/>
          </p:nvPr>
        </p:nvSpPr>
        <p:spPr>
          <a:xfrm>
            <a:off x="341313" y="3967163"/>
            <a:ext cx="8482011" cy="2271711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2pPr>
            <a:lvl3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3pPr>
            <a:lvl4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4pPr>
            <a:lvl5pPr>
              <a:spcBef>
                <a:spcPts val="300"/>
              </a:spcBef>
              <a:buFont typeface="Wingdings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5pPr>
            <a:lvl6pPr>
              <a:buNone/>
              <a:defRPr sz="1600"/>
            </a:lvl6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341312" y="908720"/>
            <a:ext cx="8482013" cy="288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>
                <a:solidFill>
                  <a:srgbClr val="004588"/>
                </a:solidFill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Datumsplatzhalter 10"/>
          <p:cNvSpPr>
            <a:spLocks noGrp="1"/>
          </p:cNvSpPr>
          <p:nvPr>
            <p:ph type="dt" sz="half" idx="2"/>
          </p:nvPr>
        </p:nvSpPr>
        <p:spPr>
          <a:xfrm>
            <a:off x="5513388" y="6584400"/>
            <a:ext cx="1329622" cy="21600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en-US" sz="800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700A4313-2436-4D77-9D19-5267BC254160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7"/>
          </p:nvPr>
        </p:nvSpPr>
        <p:spPr>
          <a:xfrm>
            <a:off x="342000" y="1447200"/>
            <a:ext cx="8481600" cy="2275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  <a:lvl2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spcBef>
                <a:spcPts val="300"/>
              </a:spcBef>
              <a:buFont typeface="Wingdings" pitchFamily="2" charset="2"/>
              <a:buChar char="§"/>
              <a:defRPr lang="en-US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27584" y="6584400"/>
            <a:ext cx="4442916" cy="216024"/>
          </a:xfrm>
        </p:spPr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0" y="6489700"/>
            <a:ext cx="9144000" cy="3683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41312" y="514560"/>
            <a:ext cx="8482013" cy="2501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de-DE" dirty="0"/>
              <a:t>Headline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41313" y="6584400"/>
            <a:ext cx="437986" cy="21602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1">
                <a:solidFill>
                  <a:srgbClr val="00458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C1394C7-246A-4B03-B0E5-5D6A282190CE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827584" y="6584400"/>
            <a:ext cx="4442916" cy="21602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00458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cxnSp>
        <p:nvCxnSpPr>
          <p:cNvPr id="16" name="Gerade Verbindung 15"/>
          <p:cNvCxnSpPr/>
          <p:nvPr/>
        </p:nvCxnSpPr>
        <p:spPr>
          <a:xfrm>
            <a:off x="341313" y="836712"/>
            <a:ext cx="8482012" cy="0"/>
          </a:xfrm>
          <a:prstGeom prst="line">
            <a:avLst/>
          </a:prstGeom>
          <a:ln w="381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262" y="6583788"/>
            <a:ext cx="627963" cy="152054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2"/>
          </p:nvPr>
        </p:nvSpPr>
        <p:spPr>
          <a:xfrm>
            <a:off x="5513388" y="6584400"/>
            <a:ext cx="1329622" cy="21600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en-US" sz="800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fld id="{3B5606D1-140F-4AB4-AEC2-C3AE6CD58D01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FB26498-B58E-42F2-D4E8-B18C71433C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9695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700">
                <a:solidFill>
                  <a:srgbClr val="999999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70109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49" r:id="rId2"/>
    <p:sldLayoutId id="2147483670" r:id="rId3"/>
    <p:sldLayoutId id="2147483672" r:id="rId4"/>
    <p:sldLayoutId id="2147483660" r:id="rId5"/>
    <p:sldLayoutId id="2147483668" r:id="rId6"/>
    <p:sldLayoutId id="2147483666" r:id="rId7"/>
    <p:sldLayoutId id="2147483667" r:id="rId8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458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800" b="1" kern="1200">
          <a:solidFill>
            <a:srgbClr val="004588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34"/>
          <p:cNvSpPr txBox="1">
            <a:spLocks/>
          </p:cNvSpPr>
          <p:nvPr/>
        </p:nvSpPr>
        <p:spPr>
          <a:xfrm>
            <a:off x="4283969" y="5517232"/>
            <a:ext cx="4248472" cy="3122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Titel 3"/>
          <p:cNvSpPr txBox="1">
            <a:spLocks/>
          </p:cNvSpPr>
          <p:nvPr/>
        </p:nvSpPr>
        <p:spPr>
          <a:xfrm>
            <a:off x="4284441" y="4508699"/>
            <a:ext cx="4248000" cy="8725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de-DE" sz="3200" b="1" kern="1200" smtClean="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lnSpc>
                <a:spcPts val="3600"/>
              </a:lnSpc>
            </a:pPr>
            <a:r>
              <a:rPr lang="cs-CZ" dirty="0"/>
              <a:t>Bednění mostních</a:t>
            </a:r>
            <a:br>
              <a:rPr lang="cs-CZ" dirty="0"/>
            </a:br>
            <a:r>
              <a:rPr lang="cs-CZ" dirty="0"/>
              <a:t>říms</a:t>
            </a:r>
            <a:endParaRPr lang="de-DE" sz="2400" b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cs-CZ" dirty="0"/>
              <a:t>Římsové bednění </a:t>
            </a:r>
            <a:r>
              <a:rPr lang="de-DE" dirty="0"/>
              <a:t>T | </a:t>
            </a:r>
            <a:r>
              <a:rPr lang="cs-CZ" dirty="0"/>
              <a:t>Římsový vozík </a:t>
            </a:r>
            <a:r>
              <a:rPr lang="de-DE" dirty="0"/>
              <a:t>T</a:t>
            </a:r>
            <a:r>
              <a:rPr lang="cs-CZ" dirty="0"/>
              <a:t>U</a:t>
            </a:r>
            <a:br>
              <a:rPr lang="de-DE" dirty="0"/>
            </a:br>
            <a:r>
              <a:rPr lang="cs-CZ" dirty="0"/>
              <a:t>Římsový vozík </a:t>
            </a:r>
            <a:r>
              <a:rPr lang="de-DE" dirty="0"/>
              <a:t>T</a:t>
            </a:r>
          </a:p>
        </p:txBody>
      </p:sp>
      <p:sp>
        <p:nvSpPr>
          <p:cNvPr id="10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4283968" y="6309320"/>
            <a:ext cx="3168352" cy="360040"/>
          </a:xfrm>
        </p:spPr>
        <p:txBody>
          <a:bodyPr/>
          <a:lstStyle/>
          <a:p>
            <a:r>
              <a:rPr lang="cs-CZ" dirty="0"/>
              <a:t>Školení zákazníků </a:t>
            </a:r>
            <a:r>
              <a:rPr lang="en-US" dirty="0"/>
              <a:t>202</a:t>
            </a:r>
            <a:r>
              <a:rPr lang="cs-CZ" dirty="0"/>
              <a:t>6</a:t>
            </a:r>
            <a:r>
              <a:rPr lang="en-US" dirty="0"/>
              <a:t> | </a:t>
            </a:r>
            <a:r>
              <a:rPr lang="cs-CZ" dirty="0"/>
              <a:t>Ing. Martin Sosna</a:t>
            </a:r>
            <a:endParaRPr lang="de-CH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Bednění mostních říms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3 systémy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560306" y="1483148"/>
            <a:ext cx="279697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b="1" dirty="0">
                <a:solidFill>
                  <a:srgbClr val="004588"/>
                </a:solidFill>
              </a:rPr>
              <a:t>1) Římsové bednění </a:t>
            </a:r>
            <a:r>
              <a:rPr lang="en-US" sz="1600" b="1" dirty="0">
                <a:solidFill>
                  <a:srgbClr val="004588"/>
                </a:solidFill>
              </a:rPr>
              <a:t>T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6894637" y="1483148"/>
            <a:ext cx="200977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b="1" dirty="0">
                <a:solidFill>
                  <a:srgbClr val="004588"/>
                </a:solidFill>
              </a:rPr>
              <a:t>3) </a:t>
            </a:r>
            <a:r>
              <a:rPr lang="en-US" sz="1600" b="1" dirty="0" err="1">
                <a:solidFill>
                  <a:srgbClr val="004588"/>
                </a:solidFill>
              </a:rPr>
              <a:t>Římsový</a:t>
            </a:r>
            <a:r>
              <a:rPr lang="en-US" sz="1600" b="1" dirty="0">
                <a:solidFill>
                  <a:srgbClr val="004588"/>
                </a:solidFill>
              </a:rPr>
              <a:t> </a:t>
            </a:r>
            <a:r>
              <a:rPr lang="en-US" sz="1600" b="1" dirty="0" err="1">
                <a:solidFill>
                  <a:srgbClr val="004588"/>
                </a:solidFill>
              </a:rPr>
              <a:t>vozík</a:t>
            </a:r>
            <a:r>
              <a:rPr lang="en-US" sz="1600" b="1" dirty="0">
                <a:solidFill>
                  <a:srgbClr val="004588"/>
                </a:solidFill>
              </a:rPr>
              <a:t>  T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168" y="1823013"/>
            <a:ext cx="2697874" cy="198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uppieren 6"/>
          <p:cNvGrpSpPr>
            <a:grpSpLocks noChangeAspect="1"/>
          </p:cNvGrpSpPr>
          <p:nvPr/>
        </p:nvGrpSpPr>
        <p:grpSpPr>
          <a:xfrm>
            <a:off x="6628913" y="1822729"/>
            <a:ext cx="2326821" cy="1987200"/>
            <a:chOff x="1238250" y="1028700"/>
            <a:chExt cx="5911850" cy="5048962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38250" y="1028700"/>
              <a:ext cx="5911850" cy="5048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Rechteck 8"/>
            <p:cNvSpPr/>
            <p:nvPr/>
          </p:nvSpPr>
          <p:spPr bwMode="auto">
            <a:xfrm>
              <a:off x="1282700" y="5429250"/>
              <a:ext cx="444500" cy="177800"/>
            </a:xfrm>
            <a:prstGeom prst="rect">
              <a:avLst/>
            </a:prstGeom>
            <a:solidFill>
              <a:schemeClr val="bg1"/>
            </a:solidFill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340" y="1765812"/>
            <a:ext cx="2777805" cy="1951366"/>
          </a:xfrm>
          <a:prstGeom prst="rect">
            <a:avLst/>
          </a:prstGeom>
        </p:spPr>
      </p:pic>
      <p:sp>
        <p:nvSpPr>
          <p:cNvPr id="16" name="Textfeld 15"/>
          <p:cNvSpPr txBox="1"/>
          <p:nvPr/>
        </p:nvSpPr>
        <p:spPr>
          <a:xfrm>
            <a:off x="3645726" y="1483148"/>
            <a:ext cx="21705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b="1" dirty="0">
                <a:solidFill>
                  <a:srgbClr val="004588"/>
                </a:solidFill>
              </a:rPr>
              <a:t>2) </a:t>
            </a:r>
            <a:r>
              <a:rPr lang="en-US" sz="1600" b="1" dirty="0" err="1">
                <a:solidFill>
                  <a:srgbClr val="004588"/>
                </a:solidFill>
              </a:rPr>
              <a:t>Římsový</a:t>
            </a:r>
            <a:r>
              <a:rPr lang="en-US" sz="1600" b="1" dirty="0">
                <a:solidFill>
                  <a:srgbClr val="004588"/>
                </a:solidFill>
              </a:rPr>
              <a:t> </a:t>
            </a:r>
            <a:r>
              <a:rPr lang="en-US" sz="1600" b="1" dirty="0" err="1">
                <a:solidFill>
                  <a:srgbClr val="004588"/>
                </a:solidFill>
              </a:rPr>
              <a:t>vozík</a:t>
            </a:r>
            <a:r>
              <a:rPr lang="en-US" sz="1600" b="1" dirty="0">
                <a:solidFill>
                  <a:srgbClr val="004588"/>
                </a:solidFill>
              </a:rPr>
              <a:t>  TU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F08857C-2AB0-4BC7-BDEC-ED67A97C795C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9" name="Zástupný symbol pro obsah 5">
            <a:extLst>
              <a:ext uri="{FF2B5EF4-FFF2-40B4-BE49-F238E27FC236}">
                <a16:creationId xmlns:a16="http://schemas.microsoft.com/office/drawing/2014/main" id="{C68DD57E-F8F1-B870-5BF4-FCC3A61EF05B}"/>
              </a:ext>
            </a:extLst>
          </p:cNvPr>
          <p:cNvSpPr txBox="1">
            <a:spLocks/>
          </p:cNvSpPr>
          <p:nvPr/>
        </p:nvSpPr>
        <p:spPr>
          <a:xfrm>
            <a:off x="334732" y="3972116"/>
            <a:ext cx="2783629" cy="22416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b="0" dirty="0">
                <a:solidFill>
                  <a:schemeClr val="tx2"/>
                </a:solidFill>
              </a:rPr>
              <a:t>• Optimální pro rozpětí ≤ 50 m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(celá římsa najednou)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Optimální pro rozpětí </a:t>
            </a:r>
            <a:r>
              <a:rPr lang="cs-CZ" sz="1400" dirty="0">
                <a:solidFill>
                  <a:schemeClr val="tx2"/>
                </a:solidFill>
              </a:rPr>
              <a:t>≤ 150 m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(s nízkým počtem přemísťování)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Vhodné pro mosty přímé i v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půdorysném oblouku</a:t>
            </a:r>
          </a:p>
          <a:p>
            <a:endParaRPr lang="cs-CZ" sz="1400" b="0" dirty="0">
              <a:solidFill>
                <a:schemeClr val="tx2"/>
              </a:solidFill>
            </a:endParaRPr>
          </a:p>
          <a:p>
            <a:r>
              <a:rPr lang="cs-CZ" sz="1400" dirty="0"/>
              <a:t>	</a:t>
            </a:r>
            <a:r>
              <a:rPr lang="cs-CZ" sz="1600" dirty="0"/>
              <a:t>			</a:t>
            </a:r>
          </a:p>
        </p:txBody>
      </p:sp>
      <p:cxnSp>
        <p:nvCxnSpPr>
          <p:cNvPr id="17" name="Přímá spojnice 16">
            <a:extLst>
              <a:ext uri="{FF2B5EF4-FFF2-40B4-BE49-F238E27FC236}">
                <a16:creationId xmlns:a16="http://schemas.microsoft.com/office/drawing/2014/main" id="{608DC892-DEE4-BC20-7B31-244F2BE976DB}"/>
              </a:ext>
            </a:extLst>
          </p:cNvPr>
          <p:cNvCxnSpPr>
            <a:cxnSpLocks/>
          </p:cNvCxnSpPr>
          <p:nvPr/>
        </p:nvCxnSpPr>
        <p:spPr>
          <a:xfrm>
            <a:off x="3244850" y="1494603"/>
            <a:ext cx="0" cy="4719176"/>
          </a:xfrm>
          <a:prstGeom prst="line">
            <a:avLst/>
          </a:prstGeom>
          <a:ln w="1905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18">
            <a:extLst>
              <a:ext uri="{FF2B5EF4-FFF2-40B4-BE49-F238E27FC236}">
                <a16:creationId xmlns:a16="http://schemas.microsoft.com/office/drawing/2014/main" id="{17D0F930-CBA8-52FE-1DFC-33966D7FD90C}"/>
              </a:ext>
            </a:extLst>
          </p:cNvPr>
          <p:cNvCxnSpPr>
            <a:cxnSpLocks/>
          </p:cNvCxnSpPr>
          <p:nvPr/>
        </p:nvCxnSpPr>
        <p:spPr>
          <a:xfrm>
            <a:off x="6392268" y="1450341"/>
            <a:ext cx="0" cy="4719176"/>
          </a:xfrm>
          <a:prstGeom prst="line">
            <a:avLst/>
          </a:prstGeom>
          <a:ln w="19050">
            <a:solidFill>
              <a:srgbClr val="0045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ástupný symbol pro obsah 5">
            <a:extLst>
              <a:ext uri="{FF2B5EF4-FFF2-40B4-BE49-F238E27FC236}">
                <a16:creationId xmlns:a16="http://schemas.microsoft.com/office/drawing/2014/main" id="{40EC1B61-CDFF-4A35-04B1-52AE6D2EA764}"/>
              </a:ext>
            </a:extLst>
          </p:cNvPr>
          <p:cNvSpPr txBox="1">
            <a:spLocks/>
          </p:cNvSpPr>
          <p:nvPr/>
        </p:nvSpPr>
        <p:spPr>
          <a:xfrm>
            <a:off x="6400508" y="3972114"/>
            <a:ext cx="2783629" cy="249534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b="0" dirty="0">
                <a:solidFill>
                  <a:schemeClr val="tx2"/>
                </a:solidFill>
              </a:rPr>
              <a:t>• Optimální pro rozpětí </a:t>
            </a:r>
            <a:r>
              <a:rPr lang="cs-CZ" sz="1400" dirty="0">
                <a:solidFill>
                  <a:schemeClr val="tx2"/>
                </a:solidFill>
              </a:rPr>
              <a:t>&gt; 150 m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Vhodné pro mosty s půdorysně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přímou mostovkou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obvykle vozíkové jednotky (a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takty betonáže) </a:t>
            </a:r>
            <a:r>
              <a:rPr lang="cs-CZ" sz="1400" dirty="0">
                <a:solidFill>
                  <a:schemeClr val="tx2"/>
                </a:solidFill>
              </a:rPr>
              <a:t>po 5 m </a:t>
            </a:r>
            <a:r>
              <a:rPr lang="cs-CZ" sz="1400" b="0" dirty="0">
                <a:solidFill>
                  <a:schemeClr val="tx2"/>
                </a:solidFill>
              </a:rPr>
              <a:t>(max)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méně komponent než vozík TU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vyžaduje prostor na horním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povrchu mostovky pro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protizávaží</a:t>
            </a:r>
          </a:p>
          <a:p>
            <a:r>
              <a:rPr lang="cs-CZ" sz="1400" dirty="0"/>
              <a:t>	</a:t>
            </a:r>
            <a:r>
              <a:rPr lang="cs-CZ" sz="1600" dirty="0"/>
              <a:t>			</a:t>
            </a:r>
          </a:p>
        </p:txBody>
      </p:sp>
      <p:sp>
        <p:nvSpPr>
          <p:cNvPr id="21" name="Zástupný symbol pro obsah 5">
            <a:extLst>
              <a:ext uri="{FF2B5EF4-FFF2-40B4-BE49-F238E27FC236}">
                <a16:creationId xmlns:a16="http://schemas.microsoft.com/office/drawing/2014/main" id="{CDE8D3A0-52A0-4B4C-CC88-F9953F8E1240}"/>
              </a:ext>
            </a:extLst>
          </p:cNvPr>
          <p:cNvSpPr txBox="1">
            <a:spLocks/>
          </p:cNvSpPr>
          <p:nvPr/>
        </p:nvSpPr>
        <p:spPr>
          <a:xfrm>
            <a:off x="3306005" y="3972114"/>
            <a:ext cx="3086263" cy="22416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rgbClr val="004588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b="0" dirty="0">
                <a:solidFill>
                  <a:schemeClr val="tx2"/>
                </a:solidFill>
              </a:rPr>
              <a:t>• Optimální pro rozpětí </a:t>
            </a:r>
            <a:r>
              <a:rPr lang="cs-CZ" sz="1400" dirty="0">
                <a:solidFill>
                  <a:schemeClr val="tx2"/>
                </a:solidFill>
              </a:rPr>
              <a:t>&gt; 150 m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Vhodné pro mosty s mostovkou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o půdorysném poloměru R ≥ 250 m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vozíkové jednotky dl.</a:t>
            </a:r>
            <a:r>
              <a:rPr lang="cs-CZ" sz="1400" dirty="0">
                <a:solidFill>
                  <a:schemeClr val="tx2"/>
                </a:solidFill>
              </a:rPr>
              <a:t> 4 m </a:t>
            </a:r>
            <a:r>
              <a:rPr lang="cs-CZ" sz="1400" b="0" dirty="0">
                <a:solidFill>
                  <a:schemeClr val="tx2"/>
                </a:solidFill>
              </a:rPr>
              <a:t>lze spojit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až na dl. </a:t>
            </a:r>
            <a:r>
              <a:rPr lang="cs-CZ" sz="1400" dirty="0">
                <a:solidFill>
                  <a:schemeClr val="tx2"/>
                </a:solidFill>
              </a:rPr>
              <a:t>6x4=24 m </a:t>
            </a:r>
            <a:r>
              <a:rPr lang="cs-CZ" sz="1400" b="0" dirty="0">
                <a:solidFill>
                  <a:schemeClr val="tx2"/>
                </a:solidFill>
              </a:rPr>
              <a:t>(max. délka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  betonovaného taktu)     </a:t>
            </a:r>
          </a:p>
          <a:p>
            <a:r>
              <a:rPr lang="cs-CZ" sz="1400" b="0" dirty="0">
                <a:solidFill>
                  <a:schemeClr val="tx2"/>
                </a:solidFill>
              </a:rPr>
              <a:t>• vhodné pro sanace říms </a:t>
            </a:r>
            <a:r>
              <a:rPr lang="cs-CZ" sz="1400" dirty="0"/>
              <a:t>	</a:t>
            </a:r>
            <a:r>
              <a:rPr lang="cs-CZ" sz="1600" dirty="0"/>
              <a:t>		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Římsové</a:t>
            </a:r>
            <a:r>
              <a:rPr lang="de-DE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Rychlý ruční systém bednění pomocí jednotlivých konzol</a:t>
            </a:r>
            <a:endParaRPr lang="de-DE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 cstate="screen"/>
          <a:srcRect l="4981"/>
          <a:stretch>
            <a:fillRect/>
          </a:stretch>
        </p:blipFill>
        <p:spPr bwMode="auto">
          <a:xfrm>
            <a:off x="341312" y="2222611"/>
            <a:ext cx="4784512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E144F1-BAF4-4603-B13F-65884B8CE3EB}" type="datetime1">
              <a:rPr lang="en-US" smtClean="0"/>
              <a:t>1/9/2026</a:t>
            </a:fld>
            <a:endParaRPr lang="de-DE" dirty="0"/>
          </a:p>
        </p:txBody>
      </p:sp>
      <p:pic>
        <p:nvPicPr>
          <p:cNvPr id="8" name="Picture 2" descr="K:\Kompetenzcenter Freivorbau - KC3\04_Userverzeichnis\gma\Gesimsschalungen\Fotos Gesimsschalung T aus AI - von Wieser Florian\0000035388-01-01_0417_02.jpg">
            <a:extLst>
              <a:ext uri="{FF2B5EF4-FFF2-40B4-BE49-F238E27FC236}">
                <a16:creationId xmlns:a16="http://schemas.microsoft.com/office/drawing/2014/main" id="{817F76A4-CA8A-DA7E-01B0-BB61C9A94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670211" y="1231160"/>
            <a:ext cx="4153114" cy="28456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855563" y="3179321"/>
            <a:ext cx="4109316" cy="2655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Výhody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4"/>
          </p:nvPr>
        </p:nvSpPr>
        <p:spPr>
          <a:xfrm>
            <a:off x="341312" y="1447800"/>
            <a:ext cx="4021137" cy="1209675"/>
          </a:xfrm>
        </p:spPr>
        <p:txBody>
          <a:bodyPr/>
          <a:lstStyle/>
          <a:p>
            <a:r>
              <a:rPr lang="cs-CZ" dirty="0"/>
              <a:t>Snadná ruční montáž </a:t>
            </a:r>
            <a:r>
              <a:rPr lang="en-US" dirty="0"/>
              <a:t>(</a:t>
            </a:r>
            <a:r>
              <a:rPr lang="cs-CZ" dirty="0"/>
              <a:t>hmotnost jednotlivých konzol</a:t>
            </a:r>
            <a:r>
              <a:rPr lang="en-US" dirty="0"/>
              <a:t>: </a:t>
            </a:r>
            <a:r>
              <a:rPr lang="cs-CZ" dirty="0"/>
              <a:t>cca </a:t>
            </a:r>
            <a:r>
              <a:rPr lang="en-US" dirty="0"/>
              <a:t>5</a:t>
            </a:r>
            <a:r>
              <a:rPr lang="cs-CZ" dirty="0"/>
              <a:t>2 </a:t>
            </a:r>
            <a:r>
              <a:rPr lang="en-US" dirty="0"/>
              <a:t>kg)</a:t>
            </a:r>
          </a:p>
          <a:p>
            <a:r>
              <a:rPr lang="cs-CZ" dirty="0"/>
              <a:t>Vysoká únosnost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894735" y="2508452"/>
            <a:ext cx="24973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Zábradlí </a:t>
            </a:r>
            <a:r>
              <a:rPr lang="en-US" sz="1600" dirty="0"/>
              <a:t>1,00 m</a:t>
            </a:r>
            <a:r>
              <a:rPr lang="cs-CZ" sz="1600" dirty="0"/>
              <a:t> </a:t>
            </a:r>
            <a:r>
              <a:rPr lang="en-US" sz="1600" dirty="0"/>
              <a:t>(4 kg)</a:t>
            </a:r>
          </a:p>
        </p:txBody>
      </p:sp>
      <p:cxnSp>
        <p:nvCxnSpPr>
          <p:cNvPr id="8" name="Gerade Verbindung 7"/>
          <p:cNvCxnSpPr/>
          <p:nvPr/>
        </p:nvCxnSpPr>
        <p:spPr bwMode="auto">
          <a:xfrm>
            <a:off x="2910389" y="3076134"/>
            <a:ext cx="349514" cy="247957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388079" y="2887352"/>
            <a:ext cx="2168639" cy="2839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feld 9"/>
          <p:cNvSpPr txBox="1"/>
          <p:nvPr/>
        </p:nvSpPr>
        <p:spPr>
          <a:xfrm>
            <a:off x="366366" y="3040824"/>
            <a:ext cx="259238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Římsová svěrka </a:t>
            </a:r>
            <a:r>
              <a:rPr lang="en-US" sz="1600" dirty="0"/>
              <a:t>T</a:t>
            </a:r>
            <a:r>
              <a:rPr lang="cs-CZ" sz="1600" dirty="0"/>
              <a:t> 0,40 m</a:t>
            </a:r>
            <a:r>
              <a:rPr lang="en-US" sz="1600" dirty="0"/>
              <a:t> (10 kg)</a:t>
            </a:r>
          </a:p>
        </p:txBody>
      </p:sp>
      <p:cxnSp>
        <p:nvCxnSpPr>
          <p:cNvPr id="11" name="Gerade Verbindung 10"/>
          <p:cNvCxnSpPr/>
          <p:nvPr/>
        </p:nvCxnSpPr>
        <p:spPr bwMode="auto">
          <a:xfrm>
            <a:off x="1647825" y="3333750"/>
            <a:ext cx="847778" cy="380866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feld 11"/>
          <p:cNvSpPr txBox="1"/>
          <p:nvPr/>
        </p:nvSpPr>
        <p:spPr>
          <a:xfrm>
            <a:off x="3190875" y="5143500"/>
            <a:ext cx="23225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Římsový nosník </a:t>
            </a:r>
            <a:r>
              <a:rPr lang="en-US" sz="1600" dirty="0"/>
              <a:t>T</a:t>
            </a:r>
            <a:r>
              <a:rPr lang="cs-CZ" sz="1600" dirty="0"/>
              <a:t> 1,40 m</a:t>
            </a:r>
          </a:p>
          <a:p>
            <a:r>
              <a:rPr lang="en-US" sz="1600" dirty="0"/>
              <a:t>(1</a:t>
            </a:r>
            <a:r>
              <a:rPr lang="cs-CZ" sz="1600" dirty="0"/>
              <a:t>6</a:t>
            </a:r>
            <a:r>
              <a:rPr lang="en-US" sz="1600" dirty="0"/>
              <a:t> kg)</a:t>
            </a:r>
          </a:p>
        </p:txBody>
      </p:sp>
      <p:cxnSp>
        <p:nvCxnSpPr>
          <p:cNvPr id="13" name="Gerade Verbindung 12"/>
          <p:cNvCxnSpPr/>
          <p:nvPr/>
        </p:nvCxnSpPr>
        <p:spPr bwMode="auto">
          <a:xfrm rot="16200000" flipH="1">
            <a:off x="2766137" y="4804944"/>
            <a:ext cx="385233" cy="315599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 Verbindung 13"/>
          <p:cNvCxnSpPr/>
          <p:nvPr/>
        </p:nvCxnSpPr>
        <p:spPr bwMode="auto">
          <a:xfrm rot="5400000">
            <a:off x="1712421" y="5812303"/>
            <a:ext cx="348658" cy="10559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feld 14"/>
          <p:cNvSpPr txBox="1"/>
          <p:nvPr/>
        </p:nvSpPr>
        <p:spPr>
          <a:xfrm>
            <a:off x="609599" y="5972175"/>
            <a:ext cx="43529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Konzola římsového bednění </a:t>
            </a:r>
            <a:r>
              <a:rPr lang="en-US" sz="1600" dirty="0"/>
              <a:t>T 0</a:t>
            </a:r>
            <a:r>
              <a:rPr lang="cs-CZ" sz="1600" dirty="0"/>
              <a:t>,</a:t>
            </a:r>
            <a:r>
              <a:rPr lang="en-US" sz="1600" dirty="0"/>
              <a:t>80 m (22 kg)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4642475" y="1438275"/>
            <a:ext cx="422530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6213" indent="-176213">
              <a:buFont typeface="Wingdings" pitchFamily="2" charset="2"/>
              <a:buChar char="§"/>
            </a:pPr>
            <a:r>
              <a:rPr lang="en-US" sz="1600" dirty="0"/>
              <a:t> </a:t>
            </a:r>
            <a:r>
              <a:rPr lang="cs-CZ" sz="1600" dirty="0"/>
              <a:t>Snadné zavěšení, rychlá montáž</a:t>
            </a:r>
            <a:endParaRPr lang="en-US" sz="1600" dirty="0"/>
          </a:p>
          <a:p>
            <a:pPr marL="176213" indent="-176213">
              <a:buFont typeface="Wingdings" pitchFamily="2" charset="2"/>
              <a:buChar char="§"/>
            </a:pPr>
            <a:r>
              <a:rPr lang="en-US" sz="1600" dirty="0"/>
              <a:t> </a:t>
            </a:r>
            <a:r>
              <a:rPr lang="cs-CZ" sz="1600" dirty="0"/>
              <a:t>Přizpůsobení úklonům až ± 15°</a:t>
            </a:r>
            <a:endParaRPr lang="en-US" sz="1600" dirty="0"/>
          </a:p>
          <a:p>
            <a:pPr marL="176213" indent="-176213">
              <a:buFont typeface="Wingdings" pitchFamily="2" charset="2"/>
              <a:buChar char="§"/>
            </a:pPr>
            <a:r>
              <a:rPr lang="cs-CZ" sz="1600" dirty="0"/>
              <a:t>Variabilní pro různé geometrické tvary říms</a:t>
            </a:r>
            <a:endParaRPr lang="en-US" sz="1600" dirty="0"/>
          </a:p>
          <a:p>
            <a:pPr marL="176213" indent="-176213">
              <a:buFont typeface="Wingdings" pitchFamily="2" charset="2"/>
              <a:buChar char="§"/>
            </a:pPr>
            <a:r>
              <a:rPr lang="en-US" sz="1600" dirty="0"/>
              <a:t> </a:t>
            </a:r>
            <a:r>
              <a:rPr lang="cs-CZ" sz="1600" dirty="0"/>
              <a:t>Armování a betonáž bezpečně z mostovky díky přístupu shora</a:t>
            </a:r>
            <a:endParaRPr lang="en-US" sz="1600" dirty="0"/>
          </a:p>
        </p:txBody>
      </p:sp>
      <p:cxnSp>
        <p:nvCxnSpPr>
          <p:cNvPr id="20" name="Gerade Verbindung 19"/>
          <p:cNvCxnSpPr/>
          <p:nvPr/>
        </p:nvCxnSpPr>
        <p:spPr bwMode="auto">
          <a:xfrm>
            <a:off x="2638425" y="2876550"/>
            <a:ext cx="590550" cy="428625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18" name="Datumsplatzhalter 1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736DB8B-6A02-4477-A2B8-F6FA61A7475C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Výhody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4"/>
          </p:nvPr>
        </p:nvSpPr>
        <p:spPr>
          <a:xfrm>
            <a:off x="341313" y="1447801"/>
            <a:ext cx="3468687" cy="1010264"/>
          </a:xfrm>
        </p:spPr>
        <p:txBody>
          <a:bodyPr/>
          <a:lstStyle/>
          <a:p>
            <a:r>
              <a:rPr lang="en-US" dirty="0"/>
              <a:t>Modul</a:t>
            </a:r>
            <a:r>
              <a:rPr lang="cs-CZ" dirty="0" err="1"/>
              <a:t>ový</a:t>
            </a:r>
            <a:r>
              <a:rPr lang="en-US" dirty="0"/>
              <a:t> syst</a:t>
            </a:r>
            <a:r>
              <a:rPr lang="cs-CZ" dirty="0"/>
              <a:t>é</a:t>
            </a:r>
            <a:r>
              <a:rPr lang="en-US" dirty="0"/>
              <a:t>m</a:t>
            </a:r>
          </a:p>
          <a:p>
            <a:r>
              <a:rPr lang="cs-CZ" dirty="0"/>
              <a:t>Přizpůsobení geometrii díky možnému prodloužení konzoly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341313" y="3474879"/>
            <a:ext cx="210502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Krátké </a:t>
            </a:r>
            <a:r>
              <a:rPr lang="cs-CZ" sz="1600" dirty="0" err="1"/>
              <a:t>vykonzolování</a:t>
            </a:r>
            <a:endParaRPr lang="en-US" sz="1600" dirty="0"/>
          </a:p>
        </p:txBody>
      </p:sp>
      <p:sp>
        <p:nvSpPr>
          <p:cNvPr id="8" name="Textfeld 7"/>
          <p:cNvSpPr txBox="1"/>
          <p:nvPr/>
        </p:nvSpPr>
        <p:spPr>
          <a:xfrm>
            <a:off x="2651125" y="3474879"/>
            <a:ext cx="261937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Mostní křídla</a:t>
            </a:r>
            <a:endParaRPr lang="en-US" sz="1600" dirty="0"/>
          </a:p>
        </p:txBody>
      </p:sp>
      <p:sp>
        <p:nvSpPr>
          <p:cNvPr id="11" name="Textfeld 10"/>
          <p:cNvSpPr txBox="1"/>
          <p:nvPr/>
        </p:nvSpPr>
        <p:spPr>
          <a:xfrm>
            <a:off x="5105399" y="1457689"/>
            <a:ext cx="388302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Použití se záchytnou stříškou nad veřejnými komunikacemi a pro demolice</a:t>
            </a:r>
            <a:endParaRPr lang="en-US" sz="1600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5513388" y="4108705"/>
            <a:ext cx="2782484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513388" y="2010910"/>
            <a:ext cx="2794557" cy="171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41313" y="3967163"/>
            <a:ext cx="1923371" cy="2205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2762253" y="3793670"/>
            <a:ext cx="1326603" cy="243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8855A1C-BBDC-484F-8AB5-EAC00952378E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88728BFD-6AE3-6820-7C24-43D970BE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27" y="2889621"/>
            <a:ext cx="6175374" cy="35762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Dimenzování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4"/>
          </p:nvPr>
        </p:nvSpPr>
        <p:spPr>
          <a:xfrm>
            <a:off x="341314" y="1447801"/>
            <a:ext cx="3766230" cy="1632928"/>
          </a:xfrm>
        </p:spPr>
        <p:txBody>
          <a:bodyPr/>
          <a:lstStyle/>
          <a:p>
            <a:r>
              <a:rPr lang="en-US" dirty="0"/>
              <a:t>Diagram </a:t>
            </a:r>
            <a:r>
              <a:rPr lang="cs-CZ" dirty="0"/>
              <a:t>pro statický návrh je v návodu pro použití</a:t>
            </a:r>
            <a:endParaRPr lang="en-US" dirty="0"/>
          </a:p>
          <a:p>
            <a:r>
              <a:rPr lang="cs-CZ" dirty="0"/>
              <a:t>Možné rozměry říms:</a:t>
            </a:r>
          </a:p>
          <a:p>
            <a:pPr marL="0" indent="0">
              <a:buNone/>
            </a:pPr>
            <a:r>
              <a:rPr lang="cs-CZ" dirty="0"/>
              <a:t>   - šířka </a:t>
            </a:r>
            <a:r>
              <a:rPr lang="en-US" dirty="0"/>
              <a:t>b = </a:t>
            </a:r>
            <a:r>
              <a:rPr lang="cs-CZ" dirty="0"/>
              <a:t>8-</a:t>
            </a:r>
            <a:r>
              <a:rPr lang="en-US" dirty="0"/>
              <a:t>60</a:t>
            </a:r>
            <a:r>
              <a:rPr lang="cs-CZ" dirty="0"/>
              <a:t> </a:t>
            </a:r>
            <a:r>
              <a:rPr lang="en-US" dirty="0"/>
              <a:t>cm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  - výška</a:t>
            </a:r>
            <a:r>
              <a:rPr lang="en-US" dirty="0"/>
              <a:t> h = </a:t>
            </a:r>
            <a:r>
              <a:rPr lang="cs-CZ" dirty="0"/>
              <a:t>0-76 </a:t>
            </a:r>
            <a:r>
              <a:rPr lang="en-US" dirty="0"/>
              <a:t>cm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rozteč konzol </a:t>
            </a:r>
            <a:r>
              <a:rPr lang="en-US" dirty="0"/>
              <a:t>a = 80</a:t>
            </a:r>
            <a:r>
              <a:rPr lang="cs-CZ" dirty="0"/>
              <a:t>-180 </a:t>
            </a:r>
            <a:r>
              <a:rPr lang="en-US" dirty="0"/>
              <a:t>cm</a:t>
            </a:r>
          </a:p>
          <a:p>
            <a:endParaRPr lang="cs-CZ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screen"/>
          <a:srcRect l="-1309" t="2366" r="34499" b="-2366"/>
          <a:stretch>
            <a:fillRect/>
          </a:stretch>
        </p:blipFill>
        <p:spPr bwMode="auto">
          <a:xfrm>
            <a:off x="182399" y="2890101"/>
            <a:ext cx="2465552" cy="181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4938447-3B95-4699-8FB6-B2D01DBDC64F}" type="datetime1">
              <a:rPr lang="en-US" smtClean="0"/>
              <a:t>1/9/2026</a:t>
            </a:fld>
            <a:endParaRPr lang="de-DE" dirty="0"/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1CB2ADD5-732D-CAA8-CA30-E80F1C226A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1" t="4560" r="3832" b="37704"/>
          <a:stretch>
            <a:fillRect/>
          </a:stretch>
        </p:blipFill>
        <p:spPr>
          <a:xfrm>
            <a:off x="4266460" y="1889975"/>
            <a:ext cx="4191906" cy="904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Zhotovení závěsného místa</a:t>
            </a:r>
            <a:r>
              <a:rPr lang="en-US" dirty="0"/>
              <a:t>		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41313" y="1447800"/>
            <a:ext cx="2096663" cy="1108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Gerade Verbindung 7"/>
          <p:cNvCxnSpPr/>
          <p:nvPr/>
        </p:nvCxnSpPr>
        <p:spPr bwMode="auto">
          <a:xfrm flipH="1" flipV="1">
            <a:off x="1306286" y="2133600"/>
            <a:ext cx="806012" cy="318092"/>
          </a:xfrm>
          <a:prstGeom prst="line">
            <a:avLst/>
          </a:prstGeom>
          <a:solidFill>
            <a:srgbClr val="E6E6E6"/>
          </a:solidFill>
          <a:ln w="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41313" y="2595271"/>
            <a:ext cx="2104440" cy="112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feld 8"/>
          <p:cNvSpPr txBox="1"/>
          <p:nvPr/>
        </p:nvSpPr>
        <p:spPr>
          <a:xfrm>
            <a:off x="2283187" y="2407870"/>
            <a:ext cx="282257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Natlučte hřebíkový </a:t>
            </a:r>
            <a:r>
              <a:rPr lang="cs-CZ" sz="1600" dirty="0" err="1"/>
              <a:t>konus</a:t>
            </a:r>
            <a:r>
              <a:rPr lang="cs-CZ" sz="1600" dirty="0"/>
              <a:t> </a:t>
            </a:r>
            <a:r>
              <a:rPr lang="en-US" sz="1600" dirty="0"/>
              <a:t>15.0</a:t>
            </a:r>
          </a:p>
        </p:txBody>
      </p:sp>
      <p:cxnSp>
        <p:nvCxnSpPr>
          <p:cNvPr id="11" name="Gerade Verbindung 10"/>
          <p:cNvCxnSpPr>
            <a:stCxn id="12" idx="1"/>
          </p:cNvCxnSpPr>
          <p:nvPr/>
        </p:nvCxnSpPr>
        <p:spPr bwMode="auto">
          <a:xfrm flipH="1" flipV="1">
            <a:off x="1605225" y="3286133"/>
            <a:ext cx="1054554" cy="527798"/>
          </a:xfrm>
          <a:prstGeom prst="line">
            <a:avLst/>
          </a:prstGeom>
          <a:solidFill>
            <a:srgbClr val="E6E6E6"/>
          </a:solidFill>
          <a:ln w="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44030" y="3823709"/>
            <a:ext cx="1944407" cy="1316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347972" y="5237885"/>
            <a:ext cx="1935215" cy="981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feld 14"/>
          <p:cNvSpPr txBox="1"/>
          <p:nvPr/>
        </p:nvSpPr>
        <p:spPr>
          <a:xfrm>
            <a:off x="2506915" y="4493202"/>
            <a:ext cx="347934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Po betonáži odstraňte</a:t>
            </a:r>
            <a:br>
              <a:rPr lang="cs-CZ" sz="1600" dirty="0"/>
            </a:br>
            <a:r>
              <a:rPr lang="cs-CZ" sz="1600" dirty="0"/>
              <a:t>hřebíkový </a:t>
            </a:r>
            <a:r>
              <a:rPr lang="cs-CZ" sz="1600" dirty="0" err="1"/>
              <a:t>konus</a:t>
            </a:r>
            <a:r>
              <a:rPr lang="cs-CZ" sz="1600" dirty="0"/>
              <a:t>, zhotovené</a:t>
            </a:r>
            <a:br>
              <a:rPr lang="cs-CZ" sz="1600" dirty="0"/>
            </a:br>
            <a:r>
              <a:rPr lang="cs-CZ" sz="1600" dirty="0"/>
              <a:t>krytí kotvy bude </a:t>
            </a:r>
            <a:r>
              <a:rPr lang="en-US" sz="1600" dirty="0"/>
              <a:t>a = 4</a:t>
            </a:r>
            <a:r>
              <a:rPr lang="cs-CZ" sz="1600" dirty="0"/>
              <a:t> </a:t>
            </a:r>
            <a:r>
              <a:rPr lang="en-US" sz="1600" dirty="0"/>
              <a:t>cm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2002953" y="6017743"/>
            <a:ext cx="29432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Našroubujte Závěsný </a:t>
            </a:r>
            <a:r>
              <a:rPr lang="cs-CZ" sz="1600" dirty="0" err="1"/>
              <a:t>konus</a:t>
            </a:r>
            <a:r>
              <a:rPr lang="cs-CZ" sz="1600" dirty="0"/>
              <a:t> pro římsové bednění 15,0</a:t>
            </a:r>
            <a:endParaRPr lang="en-US" sz="1600" dirty="0"/>
          </a:p>
        </p:txBody>
      </p:sp>
      <p:cxnSp>
        <p:nvCxnSpPr>
          <p:cNvPr id="27" name="Gerade Verbindung 26"/>
          <p:cNvCxnSpPr/>
          <p:nvPr/>
        </p:nvCxnSpPr>
        <p:spPr bwMode="auto">
          <a:xfrm flipH="1" flipV="1">
            <a:off x="1304474" y="4467229"/>
            <a:ext cx="1085394" cy="308631"/>
          </a:xfrm>
          <a:prstGeom prst="line">
            <a:avLst/>
          </a:prstGeom>
          <a:solidFill>
            <a:srgbClr val="E6E6E6"/>
          </a:solidFill>
          <a:ln w="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Gerade Verbindung 32"/>
          <p:cNvCxnSpPr/>
          <p:nvPr/>
        </p:nvCxnSpPr>
        <p:spPr bwMode="auto">
          <a:xfrm rot="10800000">
            <a:off x="1485903" y="5867405"/>
            <a:ext cx="390523" cy="371471"/>
          </a:xfrm>
          <a:prstGeom prst="line">
            <a:avLst/>
          </a:prstGeom>
          <a:solidFill>
            <a:srgbClr val="E6E6E6"/>
          </a:solidFill>
          <a:ln w="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feld 11"/>
          <p:cNvSpPr txBox="1"/>
          <p:nvPr/>
        </p:nvSpPr>
        <p:spPr>
          <a:xfrm>
            <a:off x="2659779" y="3567709"/>
            <a:ext cx="2257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Nacvakněte kotvu pro </a:t>
            </a:r>
            <a:r>
              <a:rPr lang="cs-CZ" sz="1600" dirty="0" err="1"/>
              <a:t>žímsové</a:t>
            </a:r>
            <a:r>
              <a:rPr lang="cs-CZ" sz="1600" dirty="0"/>
              <a:t> bednění</a:t>
            </a:r>
            <a:r>
              <a:rPr lang="en-US" sz="1600" dirty="0"/>
              <a:t> 15.0</a:t>
            </a:r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6" cstate="screen"/>
          <a:srcRect b="-57"/>
          <a:stretch/>
        </p:blipFill>
        <p:spPr bwMode="auto">
          <a:xfrm>
            <a:off x="6029988" y="1790117"/>
            <a:ext cx="1661650" cy="1058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14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668730" y="3751509"/>
            <a:ext cx="1250570" cy="418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Textfeld 33"/>
          <p:cNvSpPr txBox="1"/>
          <p:nvPr/>
        </p:nvSpPr>
        <p:spPr>
          <a:xfrm>
            <a:off x="6201646" y="3332495"/>
            <a:ext cx="4381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dirty="0"/>
              <a:t>1</a:t>
            </a:r>
          </a:p>
        </p:txBody>
      </p:sp>
      <p:pic>
        <p:nvPicPr>
          <p:cNvPr id="35" name="Picture 13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7514249" y="3767352"/>
            <a:ext cx="1232935" cy="806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15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5563712" y="5356762"/>
            <a:ext cx="1460605" cy="830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16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7193762" y="5011571"/>
            <a:ext cx="1553422" cy="1198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feld 37"/>
          <p:cNvSpPr txBox="1"/>
          <p:nvPr/>
        </p:nvSpPr>
        <p:spPr>
          <a:xfrm>
            <a:off x="7968791" y="3286133"/>
            <a:ext cx="3238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dirty="0"/>
              <a:t>2</a:t>
            </a:r>
          </a:p>
        </p:txBody>
      </p:sp>
      <p:sp>
        <p:nvSpPr>
          <p:cNvPr id="39" name="Textfeld 38"/>
          <p:cNvSpPr txBox="1"/>
          <p:nvPr/>
        </p:nvSpPr>
        <p:spPr>
          <a:xfrm>
            <a:off x="6201646" y="4796260"/>
            <a:ext cx="27622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dirty="0"/>
              <a:t>3</a:t>
            </a:r>
          </a:p>
        </p:txBody>
      </p:sp>
      <p:sp>
        <p:nvSpPr>
          <p:cNvPr id="40" name="Textfeld 39"/>
          <p:cNvSpPr txBox="1"/>
          <p:nvPr/>
        </p:nvSpPr>
        <p:spPr>
          <a:xfrm>
            <a:off x="7877906" y="4739881"/>
            <a:ext cx="304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dirty="0"/>
              <a:t>4</a:t>
            </a:r>
          </a:p>
        </p:txBody>
      </p:sp>
      <p:sp>
        <p:nvSpPr>
          <p:cNvPr id="41" name="Textfeld 40"/>
          <p:cNvSpPr txBox="1"/>
          <p:nvPr/>
        </p:nvSpPr>
        <p:spPr>
          <a:xfrm>
            <a:off x="5513388" y="1170192"/>
            <a:ext cx="44177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Zavěste Konzolu římsového </a:t>
            </a:r>
            <a:br>
              <a:rPr lang="cs-CZ" sz="1600" dirty="0"/>
            </a:br>
            <a:r>
              <a:rPr lang="cs-CZ" sz="1600" dirty="0"/>
              <a:t>bednění T 0,80 m</a:t>
            </a:r>
            <a:endParaRPr lang="en-US" sz="16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26ABA36-0C04-47B6-9EC9-CAAF9BEDD0A9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16" name="Textfeld 40">
            <a:extLst>
              <a:ext uri="{FF2B5EF4-FFF2-40B4-BE49-F238E27FC236}">
                <a16:creationId xmlns:a16="http://schemas.microsoft.com/office/drawing/2014/main" id="{B95946DF-FB49-682A-BEAA-79E22ECA769A}"/>
              </a:ext>
            </a:extLst>
          </p:cNvPr>
          <p:cNvSpPr txBox="1"/>
          <p:nvPr/>
        </p:nvSpPr>
        <p:spPr>
          <a:xfrm>
            <a:off x="5563712" y="3014443"/>
            <a:ext cx="441772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Zajistěte konzolu ručním klínem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Bridge edge beam formwork | Johannes Kirchhofer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Dodatečně zhotovená kotevní místa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4"/>
          </p:nvPr>
        </p:nvSpPr>
        <p:spPr>
          <a:xfrm>
            <a:off x="341313" y="1447800"/>
            <a:ext cx="3973512" cy="4791075"/>
          </a:xfrm>
        </p:spPr>
        <p:txBody>
          <a:bodyPr/>
          <a:lstStyle/>
          <a:p>
            <a:r>
              <a:rPr lang="cs-CZ" dirty="0"/>
              <a:t>Nejčastěji u rekonstrukcí, kde nejsou předem osazené kotvy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= </a:t>
            </a:r>
            <a:r>
              <a:rPr lang="cs-CZ" dirty="0"/>
              <a:t>Kotva (dodávka stavby</a:t>
            </a:r>
            <a:endParaRPr lang="en-US" dirty="0"/>
          </a:p>
          <a:p>
            <a:endParaRPr lang="en-US" dirty="0"/>
          </a:p>
          <a:p>
            <a:r>
              <a:rPr lang="en-US" dirty="0"/>
              <a:t>B = </a:t>
            </a:r>
            <a:r>
              <a:rPr lang="cs-CZ" dirty="0"/>
              <a:t>Krycí pouzdro 21 mm</a:t>
            </a:r>
            <a:endParaRPr 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5270500" y="1447800"/>
            <a:ext cx="3552825" cy="4008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62C922-9A93-4C3C-8E42-6CBED02A76DF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Bridge edge beam formwork | Johannes Kirchhofer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Dodatečné utěsnění kotevního místa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4"/>
          </p:nvPr>
        </p:nvSpPr>
        <p:spPr>
          <a:xfrm>
            <a:off x="341313" y="1447800"/>
            <a:ext cx="6899242" cy="4791075"/>
          </a:xfrm>
        </p:spPr>
        <p:txBody>
          <a:bodyPr/>
          <a:lstStyle/>
          <a:p>
            <a:r>
              <a:rPr lang="cs-CZ" dirty="0"/>
              <a:t>Ochrana proti korozi a dodatečné opakované využití závěsného místa</a:t>
            </a:r>
            <a:endParaRPr lang="en-US" dirty="0"/>
          </a:p>
          <a:p>
            <a:endParaRPr lang="cs-CZ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cs-CZ" dirty="0"/>
              <a:t>Utěsnění pomocí Zinkové zátky 15,0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5087083" y="2552176"/>
            <a:ext cx="373624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6213" indent="-176213">
              <a:buFont typeface="Wingdings" pitchFamily="2" charset="2"/>
              <a:buChar char="§"/>
            </a:pPr>
            <a:r>
              <a:rPr lang="cs-CZ" sz="1600" dirty="0"/>
              <a:t>Utěsnění Zátkou otvoru pro římsové konzoly </a:t>
            </a:r>
            <a:r>
              <a:rPr lang="en-US" sz="1600" dirty="0"/>
              <a:t>29</a:t>
            </a:r>
            <a:r>
              <a:rPr lang="cs-CZ" sz="1600" dirty="0"/>
              <a:t> </a:t>
            </a:r>
            <a:r>
              <a:rPr lang="en-US" sz="1600" dirty="0"/>
              <a:t>mm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2217341" y="3038193"/>
            <a:ext cx="900101" cy="6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Gruppieren 23"/>
          <p:cNvGrpSpPr/>
          <p:nvPr/>
        </p:nvGrpSpPr>
        <p:grpSpPr>
          <a:xfrm>
            <a:off x="346356" y="3853782"/>
            <a:ext cx="4412522" cy="1800501"/>
            <a:chOff x="927100" y="2476224"/>
            <a:chExt cx="4412522" cy="1800501"/>
          </a:xfrm>
          <a:solidFill>
            <a:schemeClr val="bg1"/>
          </a:solidFill>
        </p:grpSpPr>
        <p:pic>
          <p:nvPicPr>
            <p:cNvPr id="10" name="Picture 8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927100" y="2476224"/>
              <a:ext cx="3022600" cy="170842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Rechteck 10"/>
            <p:cNvSpPr/>
            <p:nvPr/>
          </p:nvSpPr>
          <p:spPr bwMode="auto">
            <a:xfrm>
              <a:off x="3016250" y="2673350"/>
              <a:ext cx="2323372" cy="155575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Rechteck 11"/>
            <p:cNvSpPr/>
            <p:nvPr/>
          </p:nvSpPr>
          <p:spPr bwMode="auto">
            <a:xfrm rot="5400000">
              <a:off x="2571750" y="3384550"/>
              <a:ext cx="625475" cy="1158875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 rot="10800000">
            <a:off x="7513070" y="3127160"/>
            <a:ext cx="1276022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Gestreifter Pfeil nach rechts 13"/>
          <p:cNvSpPr/>
          <p:nvPr/>
        </p:nvSpPr>
        <p:spPr bwMode="auto">
          <a:xfrm>
            <a:off x="6846319" y="3927260"/>
            <a:ext cx="533400" cy="311150"/>
          </a:xfrm>
          <a:prstGeom prst="stripedRightArrow">
            <a:avLst>
              <a:gd name="adj1" fmla="val 45070"/>
              <a:gd name="adj2" fmla="val 58163"/>
            </a:avLst>
          </a:prstGeom>
          <a:solidFill>
            <a:schemeClr val="bg1">
              <a:lumMod val="75000"/>
            </a:schemeClr>
          </a:solidFill>
          <a:ln w="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Gerade Verbindung 14"/>
          <p:cNvCxnSpPr/>
          <p:nvPr/>
        </p:nvCxnSpPr>
        <p:spPr bwMode="auto">
          <a:xfrm flipV="1">
            <a:off x="6757419" y="4149510"/>
            <a:ext cx="711200" cy="533400"/>
          </a:xfrm>
          <a:prstGeom prst="line">
            <a:avLst/>
          </a:prstGeom>
          <a:solidFill>
            <a:srgbClr val="E6E6E6"/>
          </a:solidFill>
          <a:ln w="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6176844" y="4668430"/>
            <a:ext cx="577850" cy="649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feld 16"/>
          <p:cNvSpPr txBox="1"/>
          <p:nvPr/>
        </p:nvSpPr>
        <p:spPr>
          <a:xfrm>
            <a:off x="6124784" y="5403849"/>
            <a:ext cx="269854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600" dirty="0"/>
              <a:t>Zátka otvoru pro římsové konzoly </a:t>
            </a:r>
            <a:r>
              <a:rPr lang="en-US" sz="1600" dirty="0"/>
              <a:t>29</a:t>
            </a:r>
            <a:r>
              <a:rPr lang="cs-CZ" sz="1600" dirty="0"/>
              <a:t> </a:t>
            </a:r>
            <a:r>
              <a:rPr lang="en-US" sz="1600" dirty="0"/>
              <a:t>mm</a:t>
            </a:r>
          </a:p>
        </p:txBody>
      </p:sp>
      <p:sp>
        <p:nvSpPr>
          <p:cNvPr id="19" name="Rechteck 18"/>
          <p:cNvSpPr/>
          <p:nvPr/>
        </p:nvSpPr>
        <p:spPr>
          <a:xfrm>
            <a:off x="2136037" y="3820085"/>
            <a:ext cx="1449436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cs-CZ" sz="1600" dirty="0"/>
              <a:t>Zinková zátka</a:t>
            </a:r>
            <a:endParaRPr lang="de-DE" sz="16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18" name="Datumsplatzhalter 1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A7BC3C8-B215-4BB1-AD08-C5B6715090A5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Foto ze stavby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39" y="1197645"/>
            <a:ext cx="6851683" cy="513876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2E6A74-ECD1-40ED-9930-126BBAB3D776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7D85-CD0E-36E3-34BD-ED5FB071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1397ED-0D41-175B-FEA3-75A4ED9F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Římsový</a:t>
            </a:r>
            <a:r>
              <a:rPr lang="de-DE" dirty="0"/>
              <a:t> </a:t>
            </a:r>
            <a:r>
              <a:rPr lang="de-DE" dirty="0" err="1"/>
              <a:t>vozík</a:t>
            </a:r>
            <a:r>
              <a:rPr lang="de-DE" dirty="0"/>
              <a:t> TU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4D38EC-F709-ED30-F73E-05D241AA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TU | Ing. Martin Sosna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1BDC34F-3BF6-D8FB-3843-66FA90C4EA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1314" y="908720"/>
            <a:ext cx="8482013" cy="302013"/>
          </a:xfrm>
        </p:spPr>
        <p:txBody>
          <a:bodyPr/>
          <a:lstStyle/>
          <a:p>
            <a:r>
              <a:rPr lang="cs-CZ" dirty="0"/>
              <a:t>Závěsný systém pro bednění říms</a:t>
            </a:r>
            <a:endParaRPr lang="de-DE" dirty="0"/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1F3987C-C563-ADBD-84D3-B6B9A3204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89" y="1210733"/>
            <a:ext cx="7107401" cy="4992841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13D7F1-B4B5-6601-3EA2-7DF23AF88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B5B30B-0EFD-4597-5EF4-1C25B16508C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DEFDC36-66DB-475A-BE64-A79A573515F8}" type="datetime1">
              <a:rPr lang="en-US" smtClean="0"/>
              <a:t>1/9/2026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991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Římsový</a:t>
            </a:r>
            <a:r>
              <a:rPr lang="de-DE" dirty="0"/>
              <a:t> </a:t>
            </a:r>
            <a:r>
              <a:rPr lang="de-DE" dirty="0" err="1"/>
              <a:t>vozík</a:t>
            </a:r>
            <a:r>
              <a:rPr lang="de-DE" dirty="0"/>
              <a:t> TU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341314" y="908720"/>
            <a:ext cx="2926819" cy="288925"/>
          </a:xfrm>
        </p:spPr>
        <p:txBody>
          <a:bodyPr/>
          <a:lstStyle/>
          <a:p>
            <a:r>
              <a:rPr lang="cs-CZ" dirty="0"/>
              <a:t>Efektivní oblasti využití</a:t>
            </a:r>
            <a:endParaRPr lang="de-DE" dirty="0"/>
          </a:p>
          <a:p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TU | Ing. Martin Sosna</a:t>
            </a:r>
            <a:endParaRPr lang="de-CH" dirty="0"/>
          </a:p>
        </p:txBody>
      </p:sp>
      <p:sp>
        <p:nvSpPr>
          <p:cNvPr id="13" name="Textfeld 12"/>
          <p:cNvSpPr txBox="1"/>
          <p:nvPr/>
        </p:nvSpPr>
        <p:spPr>
          <a:xfrm>
            <a:off x="341313" y="1449388"/>
            <a:ext cx="3465577" cy="4431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Pro mosty středních a velkých délek 	(nad 150 m)</a:t>
            </a:r>
            <a:br>
              <a:rPr lang="cs-CZ" sz="1600" dirty="0"/>
            </a:b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Mosty přímé, popř. R ≥ 250 m</a:t>
            </a:r>
            <a:br>
              <a:rPr lang="cs-CZ" sz="1600" dirty="0"/>
            </a:b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Vyšší množství pracovních taktů</a:t>
            </a: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Přesun bednění po jednotlivých 	sekcích - délky 4 m, lze pospojovat</a:t>
            </a:r>
          </a:p>
          <a:p>
            <a:pPr>
              <a:tabLst>
                <a:tab pos="180975" algn="l"/>
              </a:tabLst>
            </a:pPr>
            <a:r>
              <a:rPr lang="cs-CZ" sz="1600" dirty="0"/>
              <a:t>   až 6 jednotek na dl. 6x4 = 24 m</a:t>
            </a:r>
          </a:p>
          <a:p>
            <a:pPr>
              <a:tabLst>
                <a:tab pos="180975" algn="l"/>
              </a:tabLst>
            </a:pP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Vhodné pro mostní konstrukce s</a:t>
            </a:r>
          </a:p>
          <a:p>
            <a:pPr>
              <a:tabLst>
                <a:tab pos="180975" algn="l"/>
              </a:tabLst>
            </a:pPr>
            <a:r>
              <a:rPr lang="cs-CZ" sz="1600" dirty="0"/>
              <a:t>   širokými římsami a vykonzolovanou 	nosnou konstrukcí v příčném 	směru</a:t>
            </a:r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Vhodné i pro rekonstrukce</a:t>
            </a:r>
          </a:p>
          <a:p>
            <a:pPr>
              <a:tabLst>
                <a:tab pos="180975" algn="l"/>
              </a:tabLst>
            </a:pPr>
            <a:endParaRPr lang="cs-CZ" sz="1600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/>
          <a:srcRect b="-43"/>
          <a:stretch/>
        </p:blipFill>
        <p:spPr>
          <a:xfrm>
            <a:off x="3912433" y="908720"/>
            <a:ext cx="5029451" cy="5457154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428F50-1E22-49E0-B560-91A58B291C12}" type="datetime1">
              <a:rPr lang="en-US" smtClean="0"/>
              <a:t>1/9/2026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329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Římsový</a:t>
            </a:r>
            <a:r>
              <a:rPr lang="de-DE" dirty="0"/>
              <a:t> </a:t>
            </a:r>
            <a:r>
              <a:rPr lang="de-DE" dirty="0" err="1"/>
              <a:t>vozík</a:t>
            </a:r>
            <a:r>
              <a:rPr lang="de-DE" dirty="0"/>
              <a:t> TU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TU | Ing. Martin Sosna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Výhody</a:t>
            </a:r>
            <a:endParaRPr lang="de-DE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684653" y="1449388"/>
            <a:ext cx="5278437" cy="3774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feld 10"/>
          <p:cNvSpPr txBox="1"/>
          <p:nvPr/>
        </p:nvSpPr>
        <p:spPr>
          <a:xfrm>
            <a:off x="341313" y="1449388"/>
            <a:ext cx="3203575" cy="34470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Volný přístup k betonované římse</a:t>
            </a: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Armovací práce a betonáž může 	probíhat bez narušení provozu 	pod mostem (pouze mírné 	omezení dopravy v případě 	sanací)</a:t>
            </a:r>
            <a:endParaRPr lang="de-DE" sz="1600" dirty="0"/>
          </a:p>
          <a:p>
            <a:pPr>
              <a:tabLst>
                <a:tab pos="180975" algn="l"/>
              </a:tabLst>
            </a:pP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Rychlá de/montáž díky 	vysokému stupni předmontáže</a:t>
            </a:r>
            <a:endParaRPr lang="de-DE" sz="1600" dirty="0"/>
          </a:p>
          <a:p>
            <a:pPr>
              <a:tabLst>
                <a:tab pos="180975" algn="l"/>
              </a:tabLst>
            </a:pPr>
            <a:endParaRPr lang="de-DE" sz="1600" dirty="0"/>
          </a:p>
          <a:p>
            <a:pPr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sz="1600" dirty="0"/>
              <a:t>	</a:t>
            </a:r>
            <a:r>
              <a:rPr lang="cs-CZ" sz="1600" dirty="0"/>
              <a:t>Obvyklá rychlost betonáže jsou</a:t>
            </a:r>
          </a:p>
          <a:p>
            <a:pPr>
              <a:tabLst>
                <a:tab pos="180975" algn="l"/>
              </a:tabLst>
            </a:pPr>
            <a:r>
              <a:rPr lang="cs-CZ" sz="1600" dirty="0"/>
              <a:t>	2 pracovní takty za týden</a:t>
            </a:r>
            <a:endParaRPr lang="de-DE" sz="1600" dirty="0"/>
          </a:p>
          <a:p>
            <a:pPr>
              <a:tabLst>
                <a:tab pos="180975" algn="l"/>
              </a:tabLst>
            </a:pPr>
            <a:endParaRPr lang="en-US" sz="16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735A44D-B341-4276-B77B-D0786344343B}" type="datetime1">
              <a:rPr lang="en-US" smtClean="0"/>
              <a:t>1/9/2026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157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Randersacker</a:t>
            </a:r>
            <a:r>
              <a:rPr lang="de-DE" dirty="0"/>
              <a:t> </a:t>
            </a:r>
            <a:r>
              <a:rPr lang="de-DE" dirty="0" err="1"/>
              <a:t>Viaduct</a:t>
            </a:r>
            <a:r>
              <a:rPr lang="de-DE" dirty="0"/>
              <a:t> – Germany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TU | Ing. Martin Sosna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Referenční projekt</a:t>
            </a:r>
            <a:endParaRPr lang="de-DE" dirty="0"/>
          </a:p>
        </p:txBody>
      </p:sp>
      <p:pic>
        <p:nvPicPr>
          <p:cNvPr id="8194" name="Picture 2" descr="L:\techdok\ATTB\Baustellenfotos\CC-Bridges\Schalwagen TU\16 Randersacker\242-008987-SITE2144.jp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/>
        </p:blipFill>
        <p:spPr bwMode="auto">
          <a:xfrm>
            <a:off x="342124" y="1447800"/>
            <a:ext cx="5088714" cy="4786629"/>
          </a:xfrm>
          <a:prstGeom prst="rect">
            <a:avLst/>
          </a:prstGeom>
          <a:noFill/>
        </p:spPr>
      </p:pic>
      <p:pic>
        <p:nvPicPr>
          <p:cNvPr id="8196" name="Picture 4" descr="L:\techdok\ATTB\Baustellenfotos\CC-Bridges\Schalwagen TU\16 Randersacker\242-008987-SITE2085.jpg"/>
          <p:cNvPicPr>
            <a:picLocks noChangeAspect="1" noChangeArrowheads="1"/>
          </p:cNvPicPr>
          <p:nvPr/>
        </p:nvPicPr>
        <p:blipFill rotWithShape="1">
          <a:blip r:embed="rId3" cstate="screen"/>
          <a:srcRect/>
          <a:stretch/>
        </p:blipFill>
        <p:spPr bwMode="auto">
          <a:xfrm flipH="1">
            <a:off x="5521325" y="3795713"/>
            <a:ext cx="3302000" cy="2443162"/>
          </a:xfrm>
          <a:prstGeom prst="rect">
            <a:avLst/>
          </a:prstGeom>
          <a:noFill/>
        </p:spPr>
      </p:pic>
      <p:pic>
        <p:nvPicPr>
          <p:cNvPr id="8195" name="Picture 3" descr="L:\techdok\ATTB\Baustellenfotos\CC-Bridges\Schalwagen TU\16 Randersacker\242-008987-SITE2146.jpg"/>
          <p:cNvPicPr>
            <a:picLocks noChangeAspect="1" noChangeArrowheads="1"/>
          </p:cNvPicPr>
          <p:nvPr/>
        </p:nvPicPr>
        <p:blipFill rotWithShape="1">
          <a:blip r:embed="rId4" cstate="screen"/>
          <a:srcRect/>
          <a:stretch/>
        </p:blipFill>
        <p:spPr bwMode="auto">
          <a:xfrm>
            <a:off x="5521325" y="1447800"/>
            <a:ext cx="3302000" cy="2273300"/>
          </a:xfrm>
          <a:prstGeom prst="rect">
            <a:avLst/>
          </a:prstGeom>
          <a:noFill/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D76085-9A39-4413-B27E-FC5CE5E7E8D1}" type="datetime1">
              <a:rPr lang="en-US" smtClean="0"/>
              <a:t>1/9/2026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6457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L:\techdok\ATTB\Baustellenfotos\CC-Bridges\Schalwagen TU\23 Talbrücke Nuttlar\Rackl_Juni 2015\DSC00592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32348" y="1446522"/>
            <a:ext cx="5098490" cy="4792353"/>
          </a:xfrm>
          <a:prstGeom prst="rect">
            <a:avLst/>
          </a:prstGeom>
          <a:noFill/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17460" y="506608"/>
            <a:ext cx="8482013" cy="250144"/>
          </a:xfrm>
        </p:spPr>
        <p:txBody>
          <a:bodyPr/>
          <a:lstStyle/>
          <a:p>
            <a:r>
              <a:rPr lang="de-DE" dirty="0" err="1"/>
              <a:t>Nuttlar</a:t>
            </a:r>
            <a:r>
              <a:rPr lang="de-DE" dirty="0"/>
              <a:t> </a:t>
            </a:r>
            <a:r>
              <a:rPr lang="de-DE" dirty="0" err="1"/>
              <a:t>Viaduct</a:t>
            </a:r>
            <a:r>
              <a:rPr lang="de-DE"/>
              <a:t> – Germany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TU | Ing. Martin Sosna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Referenční projekt</a:t>
            </a:r>
            <a:endParaRPr lang="de-DE" dirty="0"/>
          </a:p>
        </p:txBody>
      </p:sp>
      <p:pic>
        <p:nvPicPr>
          <p:cNvPr id="6146" name="Picture 2" descr="L:\techdok\ATTB\Baustellenfotos\CC-Bridges\Schalwagen TU\23 Talbrücke Nuttlar\Rackl_Juni 2015\DSC00743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521325" y="3141662"/>
            <a:ext cx="3302000" cy="3097213"/>
          </a:xfrm>
          <a:prstGeom prst="rect">
            <a:avLst/>
          </a:prstGeom>
          <a:noFill/>
        </p:spPr>
      </p:pic>
      <p:cxnSp>
        <p:nvCxnSpPr>
          <p:cNvPr id="13" name="Gerade Verbindung mit Pfeil 12"/>
          <p:cNvCxnSpPr/>
          <p:nvPr/>
        </p:nvCxnSpPr>
        <p:spPr>
          <a:xfrm flipV="1">
            <a:off x="6157115" y="3496235"/>
            <a:ext cx="1638" cy="2487395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 rot="16200000">
            <a:off x="5527953" y="4855248"/>
            <a:ext cx="8666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b="1" dirty="0">
                <a:solidFill>
                  <a:srgbClr val="FF0000"/>
                </a:solidFill>
              </a:rPr>
              <a:t>1.50 m</a:t>
            </a:r>
          </a:p>
        </p:txBody>
      </p:sp>
      <p:pic>
        <p:nvPicPr>
          <p:cNvPr id="12" name="Picture 3" descr="L:\techdok\ATTB\Baustellenfotos\CC-Bridges\Schalwagen TU\23 Talbrücke Nuttlar\Rackl_Juni 2015\DSC00745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521325" y="1447800"/>
            <a:ext cx="3302000" cy="1612900"/>
          </a:xfrm>
          <a:prstGeom prst="rect">
            <a:avLst/>
          </a:prstGeom>
          <a:noFill/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0ED7ACA-4221-4DB1-8D88-0D11B9D44584}" type="datetime1">
              <a:rPr lang="en-US" smtClean="0"/>
              <a:t>1/9/2026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629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Převěšené pojízdné bednění mostních říms</a:t>
            </a:r>
            <a:endParaRPr lang="en-US" dirty="0"/>
          </a:p>
        </p:txBody>
      </p:sp>
      <p:grpSp>
        <p:nvGrpSpPr>
          <p:cNvPr id="9" name="Gruppieren 8"/>
          <p:cNvGrpSpPr/>
          <p:nvPr/>
        </p:nvGrpSpPr>
        <p:grpSpPr>
          <a:xfrm>
            <a:off x="1890259" y="1462770"/>
            <a:ext cx="5366657" cy="4805589"/>
            <a:chOff x="1238250" y="1028700"/>
            <a:chExt cx="5911850" cy="5048962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2" cstate="screen"/>
            <a:srcRect/>
            <a:stretch>
              <a:fillRect/>
            </a:stretch>
          </p:blipFill>
          <p:spPr bwMode="auto">
            <a:xfrm>
              <a:off x="1238250" y="1028700"/>
              <a:ext cx="5911850" cy="5048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Rechteck 13"/>
            <p:cNvSpPr/>
            <p:nvPr/>
          </p:nvSpPr>
          <p:spPr bwMode="auto">
            <a:xfrm>
              <a:off x="1282700" y="5429250"/>
              <a:ext cx="444500" cy="177800"/>
            </a:xfrm>
            <a:prstGeom prst="rect">
              <a:avLst/>
            </a:prstGeom>
            <a:solidFill>
              <a:schemeClr val="bg1"/>
            </a:solidFill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16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D65707-E0DA-4CF1-9205-9EA7437A2591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Hospodárné použití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4"/>
          </p:nvPr>
        </p:nvSpPr>
        <p:spPr>
          <a:xfrm>
            <a:off x="331787" y="1447800"/>
            <a:ext cx="4725405" cy="47910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Pro </a:t>
            </a:r>
            <a:r>
              <a:rPr lang="en-US" dirty="0" err="1"/>
              <a:t>mosty</a:t>
            </a:r>
            <a:r>
              <a:rPr lang="en-US" dirty="0"/>
              <a:t> </a:t>
            </a:r>
            <a:r>
              <a:rPr lang="en-US" dirty="0" err="1"/>
              <a:t>středních</a:t>
            </a:r>
            <a:r>
              <a:rPr lang="en-US" dirty="0"/>
              <a:t> a </a:t>
            </a:r>
            <a:r>
              <a:rPr lang="en-US" dirty="0" err="1"/>
              <a:t>velkých</a:t>
            </a:r>
            <a:r>
              <a:rPr lang="en-US" dirty="0"/>
              <a:t> </a:t>
            </a:r>
            <a:r>
              <a:rPr lang="en-US" dirty="0" err="1"/>
              <a:t>délek</a:t>
            </a:r>
            <a:r>
              <a:rPr lang="en-US" dirty="0"/>
              <a:t> (</a:t>
            </a:r>
            <a:r>
              <a:rPr lang="en-US" dirty="0" err="1"/>
              <a:t>nad</a:t>
            </a:r>
            <a:r>
              <a:rPr lang="en-US" dirty="0"/>
              <a:t> 150 m)</a:t>
            </a:r>
            <a:endParaRPr lang="cs-CZ" dirty="0"/>
          </a:p>
          <a:p>
            <a:pPr>
              <a:spcBef>
                <a:spcPts val="600"/>
              </a:spcBef>
            </a:pPr>
            <a:r>
              <a:rPr lang="cs-CZ" dirty="0"/>
              <a:t>Pro mosty přímé, popř. s velkými poloměry zakřivení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 err="1"/>
              <a:t>obvykle</a:t>
            </a:r>
            <a:r>
              <a:rPr lang="en-US" dirty="0"/>
              <a:t> </a:t>
            </a:r>
            <a:r>
              <a:rPr lang="en-US" dirty="0" err="1"/>
              <a:t>vozíkové</a:t>
            </a:r>
            <a:r>
              <a:rPr lang="en-US" dirty="0"/>
              <a:t> </a:t>
            </a:r>
            <a:r>
              <a:rPr lang="en-US" dirty="0" err="1"/>
              <a:t>jednotky</a:t>
            </a:r>
            <a:r>
              <a:rPr lang="en-US" dirty="0"/>
              <a:t> (a</a:t>
            </a:r>
            <a:r>
              <a:rPr lang="cs-CZ" dirty="0"/>
              <a:t> </a:t>
            </a:r>
            <a:r>
              <a:rPr lang="en-US" dirty="0" err="1"/>
              <a:t>takty</a:t>
            </a:r>
            <a:r>
              <a:rPr lang="en-US" dirty="0"/>
              <a:t> </a:t>
            </a:r>
            <a:r>
              <a:rPr lang="en-US" dirty="0" err="1"/>
              <a:t>betonáže</a:t>
            </a:r>
            <a:r>
              <a:rPr lang="en-US" dirty="0"/>
              <a:t>) po 5 m (max)</a:t>
            </a:r>
          </a:p>
          <a:p>
            <a:pPr>
              <a:spcBef>
                <a:spcPts val="600"/>
              </a:spcBef>
            </a:pPr>
            <a:r>
              <a:rPr lang="cs-CZ" dirty="0"/>
              <a:t>Vhodné i pro rekonstrukce stávajících konstrukcí nebo použití jako demoliční vozík</a:t>
            </a:r>
            <a:endParaRPr 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41313" y="3967164"/>
            <a:ext cx="3479097" cy="227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035" descr="K:\Gruppe ÖA-MAFO\Horacek\Neuer Ordner\0000056178-01-504Neu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513388" y="1447800"/>
            <a:ext cx="3306762" cy="4787900"/>
          </a:xfrm>
          <a:prstGeom prst="rect">
            <a:avLst/>
          </a:prstGeom>
          <a:noFill/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3942389-F358-4EFE-96DD-357813958440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Použití na stavbě</a:t>
            </a:r>
            <a:endParaRPr lang="en-US" dirty="0"/>
          </a:p>
        </p:txBody>
      </p:sp>
      <p:pic>
        <p:nvPicPr>
          <p:cNvPr id="10" name="Picture 2" descr="K:\Kompetenzcenter Freivorbau - KC3\04_Userverzeichnis\gma\Gesimsschalungen\Gesimsschalungen_Fotos_Pruckmayr\0000118958-01-_J2K6347.jpg"/>
          <p:cNvPicPr>
            <a:picLocks noChangeAspect="1" noChangeArrowheads="1"/>
          </p:cNvPicPr>
          <p:nvPr/>
        </p:nvPicPr>
        <p:blipFill>
          <a:blip r:embed="rId3" cstate="screen">
            <a:lum bright="10000" contrast="30000"/>
          </a:blip>
          <a:srcRect/>
          <a:stretch>
            <a:fillRect/>
          </a:stretch>
        </p:blipFill>
        <p:spPr bwMode="auto">
          <a:xfrm>
            <a:off x="341313" y="1447800"/>
            <a:ext cx="3341133" cy="4791075"/>
          </a:xfrm>
          <a:prstGeom prst="rect">
            <a:avLst/>
          </a:prstGeom>
          <a:noFill/>
        </p:spPr>
      </p:pic>
      <p:pic>
        <p:nvPicPr>
          <p:cNvPr id="11" name="Picture 3" descr="K:\Kompetenzcenter Freivorbau - KC3\04_Userverzeichnis\gma\Gesimsschalungen\Gesimsschalungen_Fotos_Pruckmayr\0000056178-01-504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270500" y="1447800"/>
            <a:ext cx="3552824" cy="2073739"/>
          </a:xfrm>
          <a:prstGeom prst="rect">
            <a:avLst/>
          </a:prstGeom>
          <a:noFill/>
        </p:spPr>
      </p:pic>
      <p:pic>
        <p:nvPicPr>
          <p:cNvPr id="12" name="Picture 5" descr="K:\Kompetenzcenter Freivorbau - KC3\04_Userverzeichnis\gma\Gesimsschalungen\Gesimsschalungen Bertram\56743.jpg"/>
          <p:cNvPicPr>
            <a:picLocks noChangeAspect="1" noChangeArrowheads="1"/>
          </p:cNvPicPr>
          <p:nvPr/>
        </p:nvPicPr>
        <p:blipFill>
          <a:blip r:embed="rId5" cstate="screen">
            <a:lum bright="10000" contrast="10000"/>
          </a:blip>
          <a:srcRect/>
          <a:stretch>
            <a:fillRect/>
          </a:stretch>
        </p:blipFill>
        <p:spPr bwMode="auto">
          <a:xfrm>
            <a:off x="5270499" y="3985864"/>
            <a:ext cx="3552825" cy="2253011"/>
          </a:xfrm>
          <a:prstGeom prst="rect">
            <a:avLst/>
          </a:prstGeom>
          <a:noFill/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18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C8BE550-F724-4154-832D-D3DD96DA984F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Použití na stavbě – přizpůsobení geometrii římsy</a:t>
            </a:r>
            <a:endParaRPr lang="en-US" dirty="0"/>
          </a:p>
        </p:txBody>
      </p:sp>
      <p:pic>
        <p:nvPicPr>
          <p:cNvPr id="8" name="Picture 2" descr="K:\Kompetenzcenter Freivorbau - KC3\04_Userverzeichnis\gma\Gesimsschalungen\Fotos Schalwagen T aus AI - von Wieser Florian\0000034369-01-01_0225_09.jpg"/>
          <p:cNvPicPr>
            <a:picLocks noChangeAspect="1" noChangeArrowheads="1"/>
          </p:cNvPicPr>
          <p:nvPr/>
        </p:nvPicPr>
        <p:blipFill>
          <a:blip r:embed="rId2" cstate="screen">
            <a:lum contrast="20000"/>
          </a:blip>
          <a:srcRect/>
          <a:stretch>
            <a:fillRect/>
          </a:stretch>
        </p:blipFill>
        <p:spPr bwMode="auto">
          <a:xfrm>
            <a:off x="1238655" y="1447800"/>
            <a:ext cx="6669866" cy="4791075"/>
          </a:xfrm>
          <a:prstGeom prst="rect">
            <a:avLst/>
          </a:prstGeom>
          <a:noFill/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19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B1E369F-5B4E-43E2-BFD0-B3673C5E9B5C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Použití na stavbě – ochrana před deštěm</a:t>
            </a:r>
            <a:endParaRPr lang="en-US" dirty="0"/>
          </a:p>
        </p:txBody>
      </p:sp>
      <p:pic>
        <p:nvPicPr>
          <p:cNvPr id="8" name="Picture 2" descr="K:\Kompetenzcenter Freivorbau - KC3\04_Userverzeichnis\gma\Gesimsschalungen\Gesimsschalungen Bertram\56733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2418481" y="1447800"/>
            <a:ext cx="6404844" cy="4791075"/>
          </a:xfrm>
          <a:prstGeom prst="rect">
            <a:avLst/>
          </a:prstGeom>
          <a:noFill/>
        </p:spPr>
      </p:pic>
      <p:pic>
        <p:nvPicPr>
          <p:cNvPr id="7" name="Picture 4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 cstate="screen">
            <a:lum bright="10000" contrast="20000"/>
          </a:blip>
          <a:stretch>
            <a:fillRect/>
          </a:stretch>
        </p:blipFill>
        <p:spPr>
          <a:xfrm flipH="1">
            <a:off x="341313" y="3967164"/>
            <a:ext cx="4007876" cy="2268536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20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D48853A-F75B-4FAC-AACB-FFE13E4BEC45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Římsový</a:t>
            </a:r>
            <a:r>
              <a:rPr lang="en-US" dirty="0"/>
              <a:t> </a:t>
            </a:r>
            <a:r>
              <a:rPr lang="en-US" dirty="0" err="1"/>
              <a:t>vozík</a:t>
            </a:r>
            <a:r>
              <a:rPr lang="en-US" dirty="0"/>
              <a:t> T</a:t>
            </a:r>
            <a:r>
              <a:rPr lang="cs-CZ" dirty="0"/>
              <a:t> – atyp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Římsové</a:t>
            </a:r>
            <a:r>
              <a:rPr lang="en-US" dirty="0"/>
              <a:t> bednění | Ing. Martin Sosna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Použití na stavbě – v mostním zrcadle</a:t>
            </a:r>
            <a:endParaRPr lang="en-US" dirty="0"/>
          </a:p>
        </p:txBody>
      </p:sp>
      <p:pic>
        <p:nvPicPr>
          <p:cNvPr id="7" name="Picture 1042"/>
          <p:cNvPicPr>
            <a:picLocks noChangeAspect="1" noChangeArrowheads="1"/>
          </p:cNvPicPr>
          <p:nvPr/>
        </p:nvPicPr>
        <p:blipFill>
          <a:blip r:embed="rId2" cstate="screen">
            <a:lum contrast="20000"/>
          </a:blip>
          <a:srcRect r="27" b="-42"/>
          <a:stretch>
            <a:fillRect/>
          </a:stretch>
        </p:blipFill>
        <p:spPr bwMode="auto">
          <a:xfrm>
            <a:off x="341313" y="1447800"/>
            <a:ext cx="4005445" cy="41507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</p:pic>
      <p:pic>
        <p:nvPicPr>
          <p:cNvPr id="8" name="Picture 1041"/>
          <p:cNvPicPr>
            <a:picLocks noChangeAspect="1" noChangeArrowheads="1"/>
          </p:cNvPicPr>
          <p:nvPr/>
        </p:nvPicPr>
        <p:blipFill>
          <a:blip r:embed="rId3" cstate="screen"/>
          <a:srcRect r="-3"/>
          <a:stretch>
            <a:fillRect/>
          </a:stretch>
        </p:blipFill>
        <p:spPr bwMode="auto">
          <a:xfrm>
            <a:off x="4773612" y="1447800"/>
            <a:ext cx="4049713" cy="413707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21</a:t>
            </a:fld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33D997-6DB1-4247-A90D-EDA9B85EBE1D}" type="datetime1">
              <a:rPr lang="en-US" smtClean="0"/>
              <a:t>1/9/2026</a:t>
            </a:fld>
            <a:endParaRPr lang="de-DE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C9EC7B5-48FE-266D-1A0F-9D67DEFA5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94C7-246A-4B03-B0E5-5D6A282190CE}" type="slidenum">
              <a:rPr lang="de-CH" smtClean="0"/>
              <a:pPr/>
              <a:t>22</a:t>
            </a:fld>
            <a:endParaRPr lang="de-CH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534EEB8-E4D0-218A-FCB9-BC5A4A75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Římsové bednění | Ing. Martin Sosna</a:t>
            </a:r>
            <a:endParaRPr lang="de-CH" dirty="0"/>
          </a:p>
        </p:txBody>
      </p:sp>
      <p:sp>
        <p:nvSpPr>
          <p:cNvPr id="6" name="Zástupný symbol pro datum 5">
            <a:extLst>
              <a:ext uri="{FF2B5EF4-FFF2-40B4-BE49-F238E27FC236}">
                <a16:creationId xmlns:a16="http://schemas.microsoft.com/office/drawing/2014/main" id="{8927D9F1-260B-2FD6-72CB-BA672876653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5CF431-40E6-4123-966B-CF284754F2DC}" type="datetime1">
              <a:rPr lang="en-US" smtClean="0"/>
              <a:t>1/9/2026</a:t>
            </a:fld>
            <a:endParaRPr lang="de-D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851B699-1A60-F0CE-A055-304F4A0A0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49" y="3178856"/>
            <a:ext cx="8482013" cy="250144"/>
          </a:xfrm>
        </p:spPr>
        <p:txBody>
          <a:bodyPr/>
          <a:lstStyle/>
          <a:p>
            <a:r>
              <a:rPr lang="cs-CZ" sz="3200" dirty="0"/>
              <a:t>Děkuji za pozornost!</a:t>
            </a:r>
            <a:br>
              <a:rPr lang="cs-CZ" sz="3200" dirty="0"/>
            </a:br>
            <a:br>
              <a:rPr lang="cs-CZ" sz="3200" dirty="0"/>
            </a:br>
            <a:br>
              <a:rPr lang="cs-CZ" sz="3200" dirty="0"/>
            </a:br>
            <a:br>
              <a:rPr lang="cs-CZ" sz="3200" dirty="0"/>
            </a:br>
            <a:br>
              <a:rPr lang="cs-CZ" sz="3200" dirty="0"/>
            </a:br>
            <a:br>
              <a:rPr lang="cs-CZ" sz="3200" dirty="0"/>
            </a:br>
            <a:br>
              <a:rPr lang="cs-CZ" dirty="0"/>
            </a:br>
            <a:r>
              <a:rPr lang="cs-CZ" dirty="0"/>
              <a:t>Dotazy?</a:t>
            </a:r>
            <a:endParaRPr lang="de-DE" sz="3200" dirty="0"/>
          </a:p>
        </p:txBody>
      </p:sp>
      <p:cxnSp>
        <p:nvCxnSpPr>
          <p:cNvPr id="10" name="Přímá spojnice 9">
            <a:extLst>
              <a:ext uri="{FF2B5EF4-FFF2-40B4-BE49-F238E27FC236}">
                <a16:creationId xmlns:a16="http://schemas.microsoft.com/office/drawing/2014/main" id="{C8902A00-6883-19F6-1512-E4277870273E}"/>
              </a:ext>
            </a:extLst>
          </p:cNvPr>
          <p:cNvCxnSpPr/>
          <p:nvPr/>
        </p:nvCxnSpPr>
        <p:spPr>
          <a:xfrm>
            <a:off x="242596" y="811763"/>
            <a:ext cx="877077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2193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oka PowerPoint Master">
  <a:themeElements>
    <a:clrScheme name="Doka">
      <a:dk1>
        <a:sysClr val="windowText" lastClr="000000"/>
      </a:dk1>
      <a:lt1>
        <a:sysClr val="window" lastClr="FFFFFF"/>
      </a:lt1>
      <a:dk2>
        <a:srgbClr val="004588"/>
      </a:dk2>
      <a:lt2>
        <a:srgbClr val="FFFFFF"/>
      </a:lt2>
      <a:accent1>
        <a:srgbClr val="FFDD00"/>
      </a:accent1>
      <a:accent2>
        <a:srgbClr val="FFE273"/>
      </a:accent2>
      <a:accent3>
        <a:srgbClr val="FFF2AF"/>
      </a:accent3>
      <a:accent4>
        <a:srgbClr val="00397E"/>
      </a:accent4>
      <a:accent5>
        <a:srgbClr val="5073AF"/>
      </a:accent5>
      <a:accent6>
        <a:srgbClr val="85AADC"/>
      </a:accent6>
      <a:hlink>
        <a:srgbClr val="004B7E"/>
      </a:hlink>
      <a:folHlink>
        <a:srgbClr val="800080"/>
      </a:folHlink>
    </a:clrScheme>
    <a:fontScheme name="Dok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actylos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2B2B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">
          <a:solidFill>
            <a:srgbClr val="00458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1237561785348942B39063529FA3C" ma:contentTypeVersion="15" ma:contentTypeDescription="Create a new document." ma:contentTypeScope="" ma:versionID="76185bc4e29ce00372e8746621f0b2a7">
  <xsd:schema xmlns:xsd="http://www.w3.org/2001/XMLSchema" xmlns:xs="http://www.w3.org/2001/XMLSchema" xmlns:p="http://schemas.microsoft.com/office/2006/metadata/properties" xmlns:ns2="2cb20959-f661-470c-9797-c0ef62707a26" xmlns:ns3="457febd0-eeba-4612-892f-508266834e68" targetNamespace="http://schemas.microsoft.com/office/2006/metadata/properties" ma:root="true" ma:fieldsID="6b8449880215f6c75054ae0178888770" ns2:_="" ns3:_="">
    <xsd:import namespace="2cb20959-f661-470c-9797-c0ef62707a26"/>
    <xsd:import namespace="457febd0-eeba-4612-892f-508266834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Contact" minOccurs="0"/>
                <xsd:element ref="ns2:Status" minOccurs="0"/>
                <xsd:element ref="ns2:Langu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b20959-f661-470c-9797-c0ef62707a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7ffa30a-8a85-45cd-8568-5d3b1cfd59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Contact" ma:index="19" nillable="true" ma:displayName="Contact" ma:format="Dropdown" ma:list="UserInfo" ma:SharePointGroup="0" ma:internalName="Contac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20" nillable="true" ma:displayName="Status" ma:format="Dropdown" ma:internalName="Status">
      <xsd:simpleType>
        <xsd:restriction base="dms:Choice">
          <xsd:enumeration value="New Design"/>
          <xsd:enumeration value="Old Design"/>
        </xsd:restriction>
      </xsd:simpleType>
    </xsd:element>
    <xsd:element name="Language" ma:index="21" nillable="true" ma:displayName="Language" ma:format="Dropdown" ma:internalName="Language">
      <xsd:simpleType>
        <xsd:restriction base="dms:Choice">
          <xsd:enumeration value="DE"/>
          <xsd:enumeration value="E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febd0-eeba-4612-892f-508266834e6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a1848f9-f61d-4213-b2d1-43b3f20485d5}" ma:internalName="TaxCatchAll" ma:showField="CatchAllData" ma:web="457febd0-eeba-4612-892f-508266834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2cb20959-f661-470c-9797-c0ef62707a26" xsi:nil="true"/>
    <Contact xmlns="2cb20959-f661-470c-9797-c0ef62707a26">
      <UserInfo>
        <DisplayName/>
        <AccountId xsi:nil="true"/>
        <AccountType/>
      </UserInfo>
    </Contact>
    <TaxCatchAll xmlns="457febd0-eeba-4612-892f-508266834e68" xsi:nil="true"/>
    <Language xmlns="2cb20959-f661-470c-9797-c0ef62707a26">EN</Language>
    <lcf76f155ced4ddcb4097134ff3c332f xmlns="2cb20959-f661-470c-9797-c0ef62707a2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D942C4-07B5-45A8-9607-9B971ADCC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b20959-f661-470c-9797-c0ef62707a26"/>
    <ds:schemaRef ds:uri="457febd0-eeba-4612-892f-508266834e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7CC79B-B7AC-4D08-9739-E5853C0BF0AE}">
  <ds:schemaRefs>
    <ds:schemaRef ds:uri="a6a039d2-2fb5-4d2e-870b-df74e01b5dfc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2cb20959-f661-470c-9797-c0ef62707a26"/>
    <ds:schemaRef ds:uri="457febd0-eeba-4612-892f-508266834e68"/>
  </ds:schemaRefs>
</ds:datastoreItem>
</file>

<file path=customXml/itemProps3.xml><?xml version="1.0" encoding="utf-8"?>
<ds:datastoreItem xmlns:ds="http://schemas.openxmlformats.org/officeDocument/2006/customXml" ds:itemID="{B7409FD8-1533-4CE7-BBE0-681B3C073B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Doka PowerPoint Master</Template>
  <TotalTime>0</TotalTime>
  <Words>956</Words>
  <Application>Microsoft Office PowerPoint</Application>
  <PresentationFormat>Předvádění na obrazovce (4:3)</PresentationFormat>
  <Paragraphs>214</Paragraphs>
  <Slides>22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Doka PowerPoint Master</vt:lpstr>
      <vt:lpstr>Prezentace aplikace PowerPoint</vt:lpstr>
      <vt:lpstr>Bednění mostních říms</vt:lpstr>
      <vt:lpstr>Římsové bednění T</vt:lpstr>
      <vt:lpstr>Římsové bednění T</vt:lpstr>
      <vt:lpstr>Římsové bednění T</vt:lpstr>
      <vt:lpstr>Římsové bednění T</vt:lpstr>
      <vt:lpstr>Římsové bednění T</vt:lpstr>
      <vt:lpstr>Římsové bednění T</vt:lpstr>
      <vt:lpstr>Římsové bednění T</vt:lpstr>
      <vt:lpstr>Římsové bednění T</vt:lpstr>
      <vt:lpstr>Římsový vozík TU</vt:lpstr>
      <vt:lpstr>Římsový vozík TU</vt:lpstr>
      <vt:lpstr>Římsový vozík TU</vt:lpstr>
      <vt:lpstr>Randersacker Viaduct – Germany</vt:lpstr>
      <vt:lpstr>Nuttlar Viaduct – Germany</vt:lpstr>
      <vt:lpstr>Římsový vozík T</vt:lpstr>
      <vt:lpstr>Římsový vozík T</vt:lpstr>
      <vt:lpstr>Římsový vozík T</vt:lpstr>
      <vt:lpstr>Římsový vozík T</vt:lpstr>
      <vt:lpstr>Římsový vozík T</vt:lpstr>
      <vt:lpstr>Římsový vozík T – atyp</vt:lpstr>
      <vt:lpstr>Děkuji za pozornost!       Dotazy?</vt:lpstr>
    </vt:vector>
  </TitlesOfParts>
  <Company>Umdasch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Streicher Thomas</dc:creator>
  <cp:lastModifiedBy>Sosna Martin</cp:lastModifiedBy>
  <cp:revision>191</cp:revision>
  <cp:lastPrinted>2012-10-03T09:18:09Z</cp:lastPrinted>
  <dcterms:created xsi:type="dcterms:W3CDTF">2013-01-07T08:27:50Z</dcterms:created>
  <dcterms:modified xsi:type="dcterms:W3CDTF">2026-01-09T06:19:33Z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0x010100F981237561785348942B39063529FA3C</vt:lpwstr>
  </property>
  <property fmtid="{D5CDD505-2E9C-101B-9397-08002B2CF9AE}" pid="3" name="NXPowerLiteLastOptimized">
    <vt:lpwstr>3770573</vt:lpwstr>
  </property>
  <property fmtid="{D5CDD505-2E9C-101B-9397-08002B2CF9AE}" pid="4" name="NXPowerLiteSettings">
    <vt:lpwstr>E700052003A000</vt:lpwstr>
  </property>
  <property fmtid="{D5CDD505-2E9C-101B-9397-08002B2CF9AE}" pid="5" name="NXPowerLiteVersion">
    <vt:lpwstr>D9.1.2</vt:lpwstr>
  </property>
  <property fmtid="{D5CDD505-2E9C-101B-9397-08002B2CF9AE}" pid="6" name="MediaServiceImageTags">
    <vt:lpwstr/>
  </property>
  <property fmtid="{D5CDD505-2E9C-101B-9397-08002B2CF9AE}" pid="7" name="Version_">
    <vt:lpwstr>2023</vt:lpwstr>
  </property>
  <property fmtid="{D5CDD505-2E9C-101B-9397-08002B2CF9AE}" pid="8" name="MSIP_Label_0ac288b0-8409-42ff-9c0f-c8b95e149093_Enabled">
    <vt:lpwstr>true</vt:lpwstr>
  </property>
  <property fmtid="{D5CDD505-2E9C-101B-9397-08002B2CF9AE}" pid="9" name="MSIP_Label_0ac288b0-8409-42ff-9c0f-c8b95e149093_SetDate">
    <vt:lpwstr>2026-01-05T10:08:33Z</vt:lpwstr>
  </property>
  <property fmtid="{D5CDD505-2E9C-101B-9397-08002B2CF9AE}" pid="10" name="MSIP_Label_0ac288b0-8409-42ff-9c0f-c8b95e149093_Method">
    <vt:lpwstr>Standard</vt:lpwstr>
  </property>
  <property fmtid="{D5CDD505-2E9C-101B-9397-08002B2CF9AE}" pid="11" name="MSIP_Label_0ac288b0-8409-42ff-9c0f-c8b95e149093_Name">
    <vt:lpwstr>Restricted</vt:lpwstr>
  </property>
  <property fmtid="{D5CDD505-2E9C-101B-9397-08002B2CF9AE}" pid="12" name="MSIP_Label_0ac288b0-8409-42ff-9c0f-c8b95e149093_SiteId">
    <vt:lpwstr>83998d4c-9ad6-4c9f-ad6c-de83f284ab6f</vt:lpwstr>
  </property>
  <property fmtid="{D5CDD505-2E9C-101B-9397-08002B2CF9AE}" pid="13" name="MSIP_Label_0ac288b0-8409-42ff-9c0f-c8b95e149093_ActionId">
    <vt:lpwstr>108d8bcb-aa36-45d4-bcae-a2ecbfa7827f</vt:lpwstr>
  </property>
  <property fmtid="{D5CDD505-2E9C-101B-9397-08002B2CF9AE}" pid="14" name="MSIP_Label_0ac288b0-8409-42ff-9c0f-c8b95e149093_ContentBits">
    <vt:lpwstr>2</vt:lpwstr>
  </property>
  <property fmtid="{D5CDD505-2E9C-101B-9397-08002B2CF9AE}" pid="15" name="MSIP_Label_0ac288b0-8409-42ff-9c0f-c8b95e149093_Tag">
    <vt:lpwstr>10, 3, 0, 1</vt:lpwstr>
  </property>
  <property fmtid="{D5CDD505-2E9C-101B-9397-08002B2CF9AE}" pid="16" name="ClassificationContentMarkingFooterLocations">
    <vt:lpwstr>Doka PowerPoint Master:4</vt:lpwstr>
  </property>
  <property fmtid="{D5CDD505-2E9C-101B-9397-08002B2CF9AE}" pid="17" name="ClassificationContentMarkingFooterText">
    <vt:lpwstr>Classification: Restricted</vt:lpwstr>
  </property>
</Properties>
</file>